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Roboto"/>
      <p:regular r:id="rId58"/>
      <p:bold r:id="rId59"/>
      <p:italic r:id="rId60"/>
      <p:boldItalic r:id="rId61"/>
    </p:embeddedFont>
    <p:embeddedFont>
      <p:font typeface="Lat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73DC17-53C9-49F4-8CB5-DCCF265BB438}">
  <a:tblStyle styleId="{8173DC17-53C9-49F4-8CB5-DCCF265BB43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509A160-D517-4D50-A620-2DCDBA34E84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4207ABB-47A3-4D0E-A62E-444825B8D82E}" styleName="Table_2">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regular.fntdata"/><Relationship Id="rId61" Type="http://schemas.openxmlformats.org/officeDocument/2006/relationships/font" Target="fonts/Roboto-boldItalic.fntdata"/><Relationship Id="rId20" Type="http://schemas.openxmlformats.org/officeDocument/2006/relationships/slide" Target="slides/slide14.xml"/><Relationship Id="rId64" Type="http://schemas.openxmlformats.org/officeDocument/2006/relationships/font" Target="fonts/Lato-italic.fntdata"/><Relationship Id="rId63" Type="http://schemas.openxmlformats.org/officeDocument/2006/relationships/font" Target="fonts/Lato-bold.fntdata"/><Relationship Id="rId22" Type="http://schemas.openxmlformats.org/officeDocument/2006/relationships/slide" Target="slides/slide16.xml"/><Relationship Id="rId21" Type="http://schemas.openxmlformats.org/officeDocument/2006/relationships/slide" Target="slides/slide15.xml"/><Relationship Id="rId65" Type="http://schemas.openxmlformats.org/officeDocument/2006/relationships/font" Target="fonts/Lato-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bold.fntdata"/><Relationship Id="rId14" Type="http://schemas.openxmlformats.org/officeDocument/2006/relationships/slide" Target="slides/slide8.xml"/><Relationship Id="rId58" Type="http://schemas.openxmlformats.org/officeDocument/2006/relationships/font" Target="fonts/Robot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3aa8005e5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3aa8005e5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189cc7169a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189cc7169a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1b38295ac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1b38295ac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1b38295ac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1b38295ac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89cc7169a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89cc7169a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192bfaa00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192bfaa00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192bfaa00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192bfaa00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192bfaa00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192bfaa00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192bfaa00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192bfaa00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192bfaa00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192bfaa00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192bfaa00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192bfaa00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192bfaa00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192bfaa00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3aa8005e57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3aa8005e57_2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3aa8005e57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23aa8005e57_2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0fedbec7d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0fedbec7d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192bfaa00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192bfaa00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189cc7169a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189cc7169a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192bfaa00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192bfaa00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192bfaa00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192bfaa00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1c5318f734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1c5318f73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28e3feea9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28e3feea9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1a95b4175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1a95b4175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2e021654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2e021654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28e3feea9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28e3feea9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192bfaa00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192bfaa00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2dca91733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2dca91733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189cc7169a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189cc7169a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189cc7169a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189cc7169a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192bfaa00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192bfaa00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192bfaa00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192bfaa00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192bfaa00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192bfaa00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192bfaa00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192bfaa00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192bfaa00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192bfaa0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192bfaa00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192bfaa00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2a1ae44b4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2a1ae44b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192bfaa00c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192bfaa00c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1a95b4175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1a95b4175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2a1ae44b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2a1ae44b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0fedbec7d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0fedbec7d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0fedbec7d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0fedbec7d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0fedbec7d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g20fedbec7dc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192bfaa00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192bfaa00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3947beb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3947beb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28e3feea9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28e3feea9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3aa8005e57_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3aa8005e57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3aa8005e57_2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3aa8005e57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0fedbec7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0fedbec7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1b38295a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1b38295a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1a95b4175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1a95b4175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1b38295ac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1b38295ac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odriverobotics.com/shop/heatsink-and-fan-for-odrive-pro" TargetMode="Externa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drive.google.com/file/d/1p4MHw2Wgh1e1pCxiqEvOhBFeNPz0Vj2E/view?usp=sharing" TargetMode="Externa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rive.google.com/file/d/1RiRdRGRTWo4sEsLlVIs6GEMBHdwWpKj1/view?usp=sharing" TargetMode="External"/><Relationship Id="rId4" Type="http://schemas.openxmlformats.org/officeDocument/2006/relationships/image" Target="../media/image14.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1" Type="http://schemas.openxmlformats.org/officeDocument/2006/relationships/hyperlink" Target="https://discord.com/" TargetMode="External"/><Relationship Id="rId10" Type="http://schemas.openxmlformats.org/officeDocument/2006/relationships/hyperlink" Target="https://about.gitlab.com/" TargetMode="External"/><Relationship Id="rId13" Type="http://schemas.openxmlformats.org/officeDocument/2006/relationships/hyperlink" Target="https://www.mcmaster.com/" TargetMode="External"/><Relationship Id="rId12" Type="http://schemas.openxmlformats.org/officeDocument/2006/relationships/hyperlink" Target="http://autorally.github.io/" TargetMode="External"/><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ocs.ros.org/en/humble/index.html" TargetMode="External"/><Relationship Id="rId4" Type="http://schemas.openxmlformats.org/officeDocument/2006/relationships/hyperlink" Target="https://github.com/AutoRally/autorally" TargetMode="External"/><Relationship Id="rId9" Type="http://schemas.openxmlformats.org/officeDocument/2006/relationships/hyperlink" Target="https://releases.ubuntu.com/22.04/" TargetMode="External"/><Relationship Id="rId15" Type="http://schemas.openxmlformats.org/officeDocument/2006/relationships/hyperlink" Target="https://ouster.com/" TargetMode="External"/><Relationship Id="rId14" Type="http://schemas.openxmlformats.org/officeDocument/2006/relationships/hyperlink" Target="https://www.luxonis.com/" TargetMode="External"/><Relationship Id="rId17" Type="http://schemas.openxmlformats.org/officeDocument/2006/relationships/hyperlink" Target="https://www.digikey.com/" TargetMode="External"/><Relationship Id="rId16" Type="http://schemas.openxmlformats.org/officeDocument/2006/relationships/hyperlink" Target="https://odriverobotics.com/" TargetMode="External"/><Relationship Id="rId5" Type="http://schemas.openxmlformats.org/officeDocument/2006/relationships/hyperlink" Target="https://docs.odriverobotics.com/v/latest/getting-started.html" TargetMode="External"/><Relationship Id="rId6" Type="http://schemas.openxmlformats.org/officeDocument/2006/relationships/hyperlink" Target="https://www.solidworks.com/" TargetMode="External"/><Relationship Id="rId18" Type="http://schemas.openxmlformats.org/officeDocument/2006/relationships/hyperlink" Target="https://www.pjrc.com/store/teensy41.html" TargetMode="External"/><Relationship Id="rId7" Type="http://schemas.openxmlformats.org/officeDocument/2006/relationships/hyperlink" Target="https://www.altium.com/altium-designer" TargetMode="External"/><Relationship Id="rId8" Type="http://schemas.openxmlformats.org/officeDocument/2006/relationships/hyperlink" Target="https://www.mathworks.com/products/matlab.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drive.google.com/file/d/1kz8n5nvP9ggpHMAv92h5ZVa3dalobyE3/view" TargetMode="External"/><Relationship Id="rId4" Type="http://schemas.openxmlformats.org/officeDocument/2006/relationships/image" Target="../media/image1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1.png"/><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696" y="12676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Critical Design Review</a:t>
            </a:r>
            <a:endParaRPr/>
          </a:p>
          <a:p>
            <a:pPr indent="0" lvl="0" marL="0" rtl="0" algn="ctr">
              <a:spcBef>
                <a:spcPts val="0"/>
              </a:spcBef>
              <a:spcAft>
                <a:spcPts val="0"/>
              </a:spcAft>
              <a:buNone/>
            </a:pPr>
            <a:r>
              <a:rPr lang="en" sz="3200"/>
              <a:t>Voltron Autonomous </a:t>
            </a:r>
            <a:r>
              <a:rPr lang="en" sz="3200"/>
              <a:t>Go Kart V3</a:t>
            </a:r>
            <a:endParaRPr sz="3200"/>
          </a:p>
          <a:p>
            <a:pPr indent="0" lvl="0" marL="0" rtl="0" algn="ctr">
              <a:spcBef>
                <a:spcPts val="0"/>
              </a:spcBef>
              <a:spcAft>
                <a:spcPts val="0"/>
              </a:spcAft>
              <a:buNone/>
            </a:pPr>
            <a:r>
              <a:rPr lang="en" sz="2200"/>
              <a:t>Ben Hall, Crockett Hensley, Brighton Swales, Ruben Murillo </a:t>
            </a:r>
            <a:endParaRPr sz="2200"/>
          </a:p>
        </p:txBody>
      </p:sp>
      <p:sp>
        <p:nvSpPr>
          <p:cNvPr id="55" name="Google Shape;55;p13"/>
          <p:cNvSpPr txBox="1"/>
          <p:nvPr>
            <p:ph idx="1" type="subTitle"/>
          </p:nvPr>
        </p:nvSpPr>
        <p:spPr>
          <a:xfrm>
            <a:off x="311675" y="3548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700">
                <a:solidFill>
                  <a:schemeClr val="dk1"/>
                </a:solidFill>
              </a:rPr>
              <a:t>Department of Robotics &amp; Mechatronics Engineering</a:t>
            </a:r>
            <a:endParaRPr/>
          </a:p>
        </p:txBody>
      </p:sp>
      <p:pic>
        <p:nvPicPr>
          <p:cNvPr id="56" name="Google Shape;56;p13"/>
          <p:cNvPicPr preferRelativeResize="0"/>
          <p:nvPr/>
        </p:nvPicPr>
        <p:blipFill>
          <a:blip r:embed="rId3">
            <a:alphaModFix/>
          </a:blip>
          <a:stretch>
            <a:fillRect/>
          </a:stretch>
        </p:blipFill>
        <p:spPr>
          <a:xfrm>
            <a:off x="4008508" y="203975"/>
            <a:ext cx="1126973" cy="1063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Overview</a:t>
            </a:r>
            <a:endParaRPr/>
          </a:p>
        </p:txBody>
      </p:sp>
      <p:sp>
        <p:nvSpPr>
          <p:cNvPr id="62" name="Google Shape;62;p14"/>
          <p:cNvSpPr txBox="1"/>
          <p:nvPr>
            <p:ph idx="1" type="body"/>
          </p:nvPr>
        </p:nvSpPr>
        <p:spPr>
          <a:xfrm>
            <a:off x="311700" y="1109925"/>
            <a:ext cx="46197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t/>
            </a:r>
            <a:endParaRPr sz="1150">
              <a:solidFill>
                <a:schemeClr val="dk1"/>
              </a:solidFill>
            </a:endParaRPr>
          </a:p>
          <a:p>
            <a:pPr indent="0" lvl="0" marL="0" rtl="0" algn="l">
              <a:spcBef>
                <a:spcPts val="1200"/>
              </a:spcBef>
              <a:spcAft>
                <a:spcPts val="0"/>
              </a:spcAft>
              <a:buNone/>
            </a:pPr>
            <a:r>
              <a:t/>
            </a:r>
            <a:endParaRPr sz="1250">
              <a:solidFill>
                <a:schemeClr val="dk1"/>
              </a:solidFill>
            </a:endParaRPr>
          </a:p>
          <a:p>
            <a:pPr indent="-296069" lvl="0" marL="457200" rtl="0" algn="l">
              <a:spcBef>
                <a:spcPts val="1200"/>
              </a:spcBef>
              <a:spcAft>
                <a:spcPts val="0"/>
              </a:spcAft>
              <a:buClr>
                <a:schemeClr val="dk1"/>
              </a:buClr>
              <a:buSzPct val="100000"/>
              <a:buChar char="●"/>
            </a:pPr>
            <a:r>
              <a:rPr lang="en" sz="1250">
                <a:solidFill>
                  <a:schemeClr val="dk1"/>
                </a:solidFill>
              </a:rPr>
              <a:t>The Voltron renovation project aims to improve reliability, speed, and ease of use of KSU EVT's autonomous racing go-kart.</a:t>
            </a:r>
            <a:endParaRPr sz="1250">
              <a:solidFill>
                <a:schemeClr val="dk1"/>
              </a:solidFill>
            </a:endParaRPr>
          </a:p>
          <a:p>
            <a:pPr indent="-296069" lvl="0" marL="457200" rtl="0" algn="l">
              <a:spcBef>
                <a:spcPts val="0"/>
              </a:spcBef>
              <a:spcAft>
                <a:spcPts val="0"/>
              </a:spcAft>
              <a:buClr>
                <a:schemeClr val="dk1"/>
              </a:buClr>
              <a:buSzPct val="100000"/>
              <a:buChar char="●"/>
            </a:pPr>
            <a:r>
              <a:rPr lang="en" sz="1250">
                <a:solidFill>
                  <a:schemeClr val="dk1"/>
                </a:solidFill>
              </a:rPr>
              <a:t>The project will enhance a particular subset of systems, including electro-mechanical steering mechanism, mount for LiDAR and Camera hardware, and adding an odometry sensor system.</a:t>
            </a:r>
            <a:endParaRPr sz="1250">
              <a:solidFill>
                <a:schemeClr val="dk1"/>
              </a:solidFill>
            </a:endParaRPr>
          </a:p>
          <a:p>
            <a:pPr indent="-296069" lvl="0" marL="457200" rtl="0" algn="l">
              <a:spcBef>
                <a:spcPts val="0"/>
              </a:spcBef>
              <a:spcAft>
                <a:spcPts val="0"/>
              </a:spcAft>
              <a:buClr>
                <a:schemeClr val="dk1"/>
              </a:buClr>
              <a:buSzPct val="100000"/>
              <a:buChar char="●"/>
            </a:pPr>
            <a:r>
              <a:rPr lang="en" sz="1250">
                <a:solidFill>
                  <a:schemeClr val="dk1"/>
                </a:solidFill>
              </a:rPr>
              <a:t>The overhaul of the gearbox used to steer Voltron is central to the system upgrades.</a:t>
            </a:r>
            <a:endParaRPr sz="1250">
              <a:solidFill>
                <a:schemeClr val="dk1"/>
              </a:solidFill>
            </a:endParaRPr>
          </a:p>
          <a:p>
            <a:pPr indent="-296069" lvl="0" marL="457200" rtl="0" algn="l">
              <a:spcBef>
                <a:spcPts val="0"/>
              </a:spcBef>
              <a:spcAft>
                <a:spcPts val="0"/>
              </a:spcAft>
              <a:buClr>
                <a:schemeClr val="dk1"/>
              </a:buClr>
              <a:buSzPct val="100000"/>
              <a:buChar char="●"/>
            </a:pPr>
            <a:r>
              <a:rPr lang="en" sz="1250">
                <a:solidFill>
                  <a:schemeClr val="dk1"/>
                </a:solidFill>
              </a:rPr>
              <a:t>Upgrades were made to the vision system by improving the LiDAR hardware and placement accompanied by a 3D camera.</a:t>
            </a:r>
            <a:endParaRPr sz="1250">
              <a:solidFill>
                <a:schemeClr val="dk1"/>
              </a:solidFill>
            </a:endParaRPr>
          </a:p>
          <a:p>
            <a:pPr indent="-296069" lvl="0" marL="457200" rtl="0" algn="l">
              <a:spcBef>
                <a:spcPts val="0"/>
              </a:spcBef>
              <a:spcAft>
                <a:spcPts val="0"/>
              </a:spcAft>
              <a:buClr>
                <a:schemeClr val="dk1"/>
              </a:buClr>
              <a:buSzPct val="100000"/>
              <a:buChar char="●"/>
            </a:pPr>
            <a:r>
              <a:rPr lang="en" sz="1250">
                <a:solidFill>
                  <a:schemeClr val="dk1"/>
                </a:solidFill>
              </a:rPr>
              <a:t>Development and implementation of a wheel odometry system that assists in the state estimation of Voltron.</a:t>
            </a:r>
            <a:endParaRPr sz="1250">
              <a:solidFill>
                <a:schemeClr val="dk1"/>
              </a:solidFill>
            </a:endParaRPr>
          </a:p>
          <a:p>
            <a:pPr indent="0" lvl="0" marL="457200" rtl="0" algn="l">
              <a:spcBef>
                <a:spcPts val="1200"/>
              </a:spcBef>
              <a:spcAft>
                <a:spcPts val="1200"/>
              </a:spcAft>
              <a:buNone/>
            </a:pPr>
            <a:r>
              <a:t/>
            </a:r>
            <a:endParaRPr sz="1150">
              <a:solidFill>
                <a:schemeClr val="dk1"/>
              </a:solidFill>
            </a:endParaRPr>
          </a:p>
        </p:txBody>
      </p:sp>
      <p:pic>
        <p:nvPicPr>
          <p:cNvPr id="63" name="Google Shape;63;p14"/>
          <p:cNvPicPr preferRelativeResize="0"/>
          <p:nvPr/>
        </p:nvPicPr>
        <p:blipFill>
          <a:blip r:embed="rId3">
            <a:alphaModFix/>
          </a:blip>
          <a:stretch>
            <a:fillRect/>
          </a:stretch>
        </p:blipFill>
        <p:spPr>
          <a:xfrm>
            <a:off x="4931394" y="1395713"/>
            <a:ext cx="3764125" cy="2844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32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Voltron Subsystems Design Block Diagram</a:t>
            </a:r>
            <a:endParaRPr/>
          </a:p>
        </p:txBody>
      </p:sp>
      <p:sp>
        <p:nvSpPr>
          <p:cNvPr id="69" name="Google Shape;69;p15"/>
          <p:cNvSpPr/>
          <p:nvPr/>
        </p:nvSpPr>
        <p:spPr>
          <a:xfrm>
            <a:off x="5952475" y="207972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VCU</a:t>
            </a:r>
            <a:endParaRPr/>
          </a:p>
        </p:txBody>
      </p:sp>
      <p:sp>
        <p:nvSpPr>
          <p:cNvPr id="70" name="Google Shape;70;p15"/>
          <p:cNvSpPr/>
          <p:nvPr/>
        </p:nvSpPr>
        <p:spPr>
          <a:xfrm>
            <a:off x="7505425" y="129942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EStop</a:t>
            </a:r>
            <a:endParaRPr/>
          </a:p>
        </p:txBody>
      </p:sp>
      <p:sp>
        <p:nvSpPr>
          <p:cNvPr id="71" name="Google Shape;71;p15"/>
          <p:cNvSpPr/>
          <p:nvPr/>
        </p:nvSpPr>
        <p:spPr>
          <a:xfrm>
            <a:off x="7505425" y="207967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Status Light</a:t>
            </a:r>
            <a:endParaRPr/>
          </a:p>
        </p:txBody>
      </p:sp>
      <p:sp>
        <p:nvSpPr>
          <p:cNvPr id="72" name="Google Shape;72;p15"/>
          <p:cNvSpPr/>
          <p:nvPr/>
        </p:nvSpPr>
        <p:spPr>
          <a:xfrm>
            <a:off x="7505425" y="285992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ODrive</a:t>
            </a:r>
            <a:endParaRPr/>
          </a:p>
        </p:txBody>
      </p:sp>
      <p:sp>
        <p:nvSpPr>
          <p:cNvPr id="73" name="Google Shape;73;p15"/>
          <p:cNvSpPr/>
          <p:nvPr/>
        </p:nvSpPr>
        <p:spPr>
          <a:xfrm>
            <a:off x="7505425" y="364017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Brake</a:t>
            </a:r>
            <a:endParaRPr/>
          </a:p>
        </p:txBody>
      </p:sp>
      <p:sp>
        <p:nvSpPr>
          <p:cNvPr id="74" name="Google Shape;74;p15"/>
          <p:cNvSpPr/>
          <p:nvPr/>
        </p:nvSpPr>
        <p:spPr>
          <a:xfrm>
            <a:off x="7505425" y="51917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Drive Motor</a:t>
            </a:r>
            <a:endParaRPr/>
          </a:p>
        </p:txBody>
      </p:sp>
      <p:cxnSp>
        <p:nvCxnSpPr>
          <p:cNvPr id="75" name="Google Shape;75;p15"/>
          <p:cNvCxnSpPr>
            <a:stCxn id="69" idx="3"/>
            <a:endCxn id="73" idx="1"/>
          </p:cNvCxnSpPr>
          <p:nvPr/>
        </p:nvCxnSpPr>
        <p:spPr>
          <a:xfrm>
            <a:off x="6749275" y="2366075"/>
            <a:ext cx="756300" cy="1560600"/>
          </a:xfrm>
          <a:prstGeom prst="straightConnector1">
            <a:avLst/>
          </a:prstGeom>
          <a:noFill/>
          <a:ln cap="flat" cmpd="sng" w="9525">
            <a:solidFill>
              <a:schemeClr val="dk1"/>
            </a:solidFill>
            <a:prstDash val="solid"/>
            <a:round/>
            <a:headEnd len="med" w="med" type="none"/>
            <a:tailEnd len="med" w="med" type="none"/>
          </a:ln>
        </p:spPr>
      </p:cxnSp>
      <p:cxnSp>
        <p:nvCxnSpPr>
          <p:cNvPr id="76" name="Google Shape;76;p15"/>
          <p:cNvCxnSpPr>
            <a:stCxn id="69" idx="3"/>
            <a:endCxn id="72" idx="1"/>
          </p:cNvCxnSpPr>
          <p:nvPr/>
        </p:nvCxnSpPr>
        <p:spPr>
          <a:xfrm>
            <a:off x="6749275" y="2366075"/>
            <a:ext cx="756300" cy="78030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15"/>
          <p:cNvCxnSpPr>
            <a:stCxn id="69" idx="3"/>
            <a:endCxn id="71" idx="1"/>
          </p:cNvCxnSpPr>
          <p:nvPr/>
        </p:nvCxnSpPr>
        <p:spPr>
          <a:xfrm>
            <a:off x="6749275" y="2366075"/>
            <a:ext cx="756300" cy="0"/>
          </a:xfrm>
          <a:prstGeom prst="straightConnector1">
            <a:avLst/>
          </a:prstGeom>
          <a:noFill/>
          <a:ln cap="flat" cmpd="sng" w="9525">
            <a:solidFill>
              <a:schemeClr val="dk1"/>
            </a:solidFill>
            <a:prstDash val="solid"/>
            <a:round/>
            <a:headEnd len="med" w="med" type="none"/>
            <a:tailEnd len="med" w="med" type="none"/>
          </a:ln>
        </p:spPr>
      </p:cxnSp>
      <p:cxnSp>
        <p:nvCxnSpPr>
          <p:cNvPr id="78" name="Google Shape;78;p15"/>
          <p:cNvCxnSpPr>
            <a:stCxn id="69" idx="3"/>
            <a:endCxn id="70" idx="1"/>
          </p:cNvCxnSpPr>
          <p:nvPr/>
        </p:nvCxnSpPr>
        <p:spPr>
          <a:xfrm flipH="1" rot="10800000">
            <a:off x="6749275" y="1585775"/>
            <a:ext cx="756300" cy="78030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15"/>
          <p:cNvCxnSpPr>
            <a:stCxn id="69" idx="3"/>
            <a:endCxn id="74" idx="1"/>
          </p:cNvCxnSpPr>
          <p:nvPr/>
        </p:nvCxnSpPr>
        <p:spPr>
          <a:xfrm flipH="1" rot="10800000">
            <a:off x="6749275" y="805475"/>
            <a:ext cx="756300" cy="1560600"/>
          </a:xfrm>
          <a:prstGeom prst="straightConnector1">
            <a:avLst/>
          </a:prstGeom>
          <a:noFill/>
          <a:ln cap="flat" cmpd="sng" w="9525">
            <a:solidFill>
              <a:schemeClr val="dk1"/>
            </a:solidFill>
            <a:prstDash val="solid"/>
            <a:round/>
            <a:headEnd len="med" w="med" type="none"/>
            <a:tailEnd len="med" w="med" type="none"/>
          </a:ln>
        </p:spPr>
      </p:cxnSp>
      <p:sp>
        <p:nvSpPr>
          <p:cNvPr id="80" name="Google Shape;80;p15"/>
          <p:cNvSpPr/>
          <p:nvPr/>
        </p:nvSpPr>
        <p:spPr>
          <a:xfrm>
            <a:off x="4173600" y="2079725"/>
            <a:ext cx="1022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Onboard PC</a:t>
            </a:r>
            <a:endParaRPr/>
          </a:p>
        </p:txBody>
      </p:sp>
      <p:cxnSp>
        <p:nvCxnSpPr>
          <p:cNvPr id="81" name="Google Shape;81;p15"/>
          <p:cNvCxnSpPr>
            <a:stCxn id="80" idx="3"/>
            <a:endCxn id="69" idx="1"/>
          </p:cNvCxnSpPr>
          <p:nvPr/>
        </p:nvCxnSpPr>
        <p:spPr>
          <a:xfrm>
            <a:off x="5196300" y="2366075"/>
            <a:ext cx="7563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5"/>
          <p:cNvSpPr/>
          <p:nvPr/>
        </p:nvSpPr>
        <p:spPr>
          <a:xfrm>
            <a:off x="2349875" y="115252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Odom Teensy</a:t>
            </a:r>
            <a:endParaRPr/>
          </a:p>
        </p:txBody>
      </p:sp>
      <p:sp>
        <p:nvSpPr>
          <p:cNvPr id="83" name="Google Shape;83;p15"/>
          <p:cNvSpPr/>
          <p:nvPr/>
        </p:nvSpPr>
        <p:spPr>
          <a:xfrm>
            <a:off x="430750" y="1152525"/>
            <a:ext cx="1412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Wheel Speed Sensors</a:t>
            </a:r>
            <a:endParaRPr/>
          </a:p>
        </p:txBody>
      </p:sp>
      <p:cxnSp>
        <p:nvCxnSpPr>
          <p:cNvPr id="84" name="Google Shape;84;p15"/>
          <p:cNvCxnSpPr>
            <a:stCxn id="83" idx="3"/>
            <a:endCxn id="82" idx="1"/>
          </p:cNvCxnSpPr>
          <p:nvPr/>
        </p:nvCxnSpPr>
        <p:spPr>
          <a:xfrm>
            <a:off x="1843450" y="1438875"/>
            <a:ext cx="506400" cy="0"/>
          </a:xfrm>
          <a:prstGeom prst="straightConnector1">
            <a:avLst/>
          </a:prstGeom>
          <a:noFill/>
          <a:ln cap="flat" cmpd="sng" w="9525">
            <a:solidFill>
              <a:schemeClr val="dk1"/>
            </a:solidFill>
            <a:prstDash val="solid"/>
            <a:round/>
            <a:headEnd len="med" w="med" type="none"/>
            <a:tailEnd len="med" w="med" type="none"/>
          </a:ln>
        </p:spPr>
      </p:cxnSp>
      <p:sp>
        <p:nvSpPr>
          <p:cNvPr id="85" name="Google Shape;85;p15"/>
          <p:cNvSpPr/>
          <p:nvPr/>
        </p:nvSpPr>
        <p:spPr>
          <a:xfrm>
            <a:off x="4039800" y="1152525"/>
            <a:ext cx="1303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VectorNav</a:t>
            </a:r>
            <a:endParaRPr/>
          </a:p>
        </p:txBody>
      </p:sp>
      <p:cxnSp>
        <p:nvCxnSpPr>
          <p:cNvPr id="86" name="Google Shape;86;p15"/>
          <p:cNvCxnSpPr>
            <a:stCxn id="82" idx="3"/>
            <a:endCxn id="85" idx="1"/>
          </p:cNvCxnSpPr>
          <p:nvPr/>
        </p:nvCxnSpPr>
        <p:spPr>
          <a:xfrm>
            <a:off x="3146675" y="1438875"/>
            <a:ext cx="893100" cy="0"/>
          </a:xfrm>
          <a:prstGeom prst="straightConnector1">
            <a:avLst/>
          </a:prstGeom>
          <a:noFill/>
          <a:ln cap="flat" cmpd="sng" w="9525">
            <a:solidFill>
              <a:schemeClr val="dk1"/>
            </a:solidFill>
            <a:prstDash val="solid"/>
            <a:round/>
            <a:headEnd len="med" w="med" type="none"/>
            <a:tailEnd len="med" w="med" type="none"/>
          </a:ln>
        </p:spPr>
      </p:cxnSp>
      <p:cxnSp>
        <p:nvCxnSpPr>
          <p:cNvPr id="87" name="Google Shape;87;p15"/>
          <p:cNvCxnSpPr>
            <a:stCxn id="82" idx="3"/>
            <a:endCxn id="80" idx="1"/>
          </p:cNvCxnSpPr>
          <p:nvPr/>
        </p:nvCxnSpPr>
        <p:spPr>
          <a:xfrm>
            <a:off x="3146675" y="1438875"/>
            <a:ext cx="1026900" cy="92730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15"/>
          <p:cNvCxnSpPr>
            <a:stCxn id="80" idx="0"/>
            <a:endCxn id="85" idx="2"/>
          </p:cNvCxnSpPr>
          <p:nvPr/>
        </p:nvCxnSpPr>
        <p:spPr>
          <a:xfrm flipH="1" rot="10800000">
            <a:off x="4684950" y="1725125"/>
            <a:ext cx="6600" cy="354600"/>
          </a:xfrm>
          <a:prstGeom prst="straightConnector1">
            <a:avLst/>
          </a:prstGeom>
          <a:noFill/>
          <a:ln cap="flat" cmpd="sng" w="9525">
            <a:solidFill>
              <a:schemeClr val="dk1"/>
            </a:solidFill>
            <a:prstDash val="solid"/>
            <a:round/>
            <a:headEnd len="med" w="med" type="none"/>
            <a:tailEnd len="med" w="med" type="none"/>
          </a:ln>
        </p:spPr>
      </p:cxnSp>
      <p:cxnSp>
        <p:nvCxnSpPr>
          <p:cNvPr id="89" name="Google Shape;89;p15"/>
          <p:cNvCxnSpPr>
            <a:stCxn id="85" idx="3"/>
            <a:endCxn id="69" idx="0"/>
          </p:cNvCxnSpPr>
          <p:nvPr/>
        </p:nvCxnSpPr>
        <p:spPr>
          <a:xfrm>
            <a:off x="5343000" y="1438875"/>
            <a:ext cx="1008000" cy="640800"/>
          </a:xfrm>
          <a:prstGeom prst="straightConnector1">
            <a:avLst/>
          </a:prstGeom>
          <a:noFill/>
          <a:ln cap="flat" cmpd="sng" w="9525">
            <a:solidFill>
              <a:schemeClr val="dk1"/>
            </a:solidFill>
            <a:prstDash val="solid"/>
            <a:round/>
            <a:headEnd len="med" w="med" type="none"/>
            <a:tailEnd len="med" w="med" type="none"/>
          </a:ln>
        </p:spPr>
      </p:cxnSp>
      <p:sp>
        <p:nvSpPr>
          <p:cNvPr id="90" name="Google Shape;90;p15"/>
          <p:cNvSpPr/>
          <p:nvPr/>
        </p:nvSpPr>
        <p:spPr>
          <a:xfrm>
            <a:off x="4033350" y="3180525"/>
            <a:ext cx="1303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P2P Connection</a:t>
            </a:r>
            <a:endParaRPr/>
          </a:p>
        </p:txBody>
      </p:sp>
      <p:cxnSp>
        <p:nvCxnSpPr>
          <p:cNvPr id="91" name="Google Shape;91;p15"/>
          <p:cNvCxnSpPr>
            <a:stCxn id="80" idx="2"/>
            <a:endCxn id="90" idx="0"/>
          </p:cNvCxnSpPr>
          <p:nvPr/>
        </p:nvCxnSpPr>
        <p:spPr>
          <a:xfrm>
            <a:off x="4684950" y="2652425"/>
            <a:ext cx="0" cy="528000"/>
          </a:xfrm>
          <a:prstGeom prst="straightConnector1">
            <a:avLst/>
          </a:prstGeom>
          <a:noFill/>
          <a:ln cap="flat" cmpd="sng" w="9525">
            <a:solidFill>
              <a:schemeClr val="dk1"/>
            </a:solidFill>
            <a:prstDash val="solid"/>
            <a:round/>
            <a:headEnd len="med" w="med" type="none"/>
            <a:tailEnd len="med" w="med" type="none"/>
          </a:ln>
        </p:spPr>
      </p:cxnSp>
      <p:cxnSp>
        <p:nvCxnSpPr>
          <p:cNvPr id="92" name="Google Shape;92;p15"/>
          <p:cNvCxnSpPr>
            <a:stCxn id="90" idx="2"/>
            <a:endCxn id="93" idx="0"/>
          </p:cNvCxnSpPr>
          <p:nvPr/>
        </p:nvCxnSpPr>
        <p:spPr>
          <a:xfrm>
            <a:off x="4684950" y="3753225"/>
            <a:ext cx="0" cy="528000"/>
          </a:xfrm>
          <a:prstGeom prst="straightConnector1">
            <a:avLst/>
          </a:prstGeom>
          <a:noFill/>
          <a:ln cap="flat" cmpd="sng" w="9525">
            <a:solidFill>
              <a:schemeClr val="dk1"/>
            </a:solidFill>
            <a:prstDash val="solid"/>
            <a:round/>
            <a:headEnd len="med" w="med" type="none"/>
            <a:tailEnd len="med" w="med" type="none"/>
          </a:ln>
        </p:spPr>
      </p:cxnSp>
      <p:sp>
        <p:nvSpPr>
          <p:cNvPr id="93" name="Google Shape;93;p15"/>
          <p:cNvSpPr/>
          <p:nvPr/>
        </p:nvSpPr>
        <p:spPr>
          <a:xfrm>
            <a:off x="3931500" y="4281325"/>
            <a:ext cx="1506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Base Station PC</a:t>
            </a:r>
            <a:endParaRPr/>
          </a:p>
        </p:txBody>
      </p:sp>
      <p:sp>
        <p:nvSpPr>
          <p:cNvPr id="94" name="Google Shape;94;p15"/>
          <p:cNvSpPr/>
          <p:nvPr/>
        </p:nvSpPr>
        <p:spPr>
          <a:xfrm>
            <a:off x="5871625" y="3180525"/>
            <a:ext cx="958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Receiver</a:t>
            </a:r>
            <a:endParaRPr/>
          </a:p>
        </p:txBody>
      </p:sp>
      <p:cxnSp>
        <p:nvCxnSpPr>
          <p:cNvPr id="95" name="Google Shape;95;p15"/>
          <p:cNvCxnSpPr>
            <a:stCxn id="94" idx="0"/>
            <a:endCxn id="69" idx="2"/>
          </p:cNvCxnSpPr>
          <p:nvPr/>
        </p:nvCxnSpPr>
        <p:spPr>
          <a:xfrm rot="10800000">
            <a:off x="6350875" y="2652525"/>
            <a:ext cx="0" cy="528000"/>
          </a:xfrm>
          <a:prstGeom prst="straightConnector1">
            <a:avLst/>
          </a:prstGeom>
          <a:noFill/>
          <a:ln cap="flat" cmpd="sng" w="9525">
            <a:solidFill>
              <a:schemeClr val="dk1"/>
            </a:solidFill>
            <a:prstDash val="solid"/>
            <a:round/>
            <a:headEnd len="med" w="med" type="none"/>
            <a:tailEnd len="med" w="med" type="none"/>
          </a:ln>
        </p:spPr>
      </p:cxnSp>
      <p:sp>
        <p:nvSpPr>
          <p:cNvPr id="96" name="Google Shape;96;p15"/>
          <p:cNvSpPr/>
          <p:nvPr/>
        </p:nvSpPr>
        <p:spPr>
          <a:xfrm>
            <a:off x="5871625" y="4281325"/>
            <a:ext cx="9585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Remote Controls</a:t>
            </a:r>
            <a:endParaRPr/>
          </a:p>
        </p:txBody>
      </p:sp>
      <p:cxnSp>
        <p:nvCxnSpPr>
          <p:cNvPr id="97" name="Google Shape;97;p15"/>
          <p:cNvCxnSpPr>
            <a:stCxn id="94" idx="2"/>
            <a:endCxn id="96" idx="0"/>
          </p:cNvCxnSpPr>
          <p:nvPr/>
        </p:nvCxnSpPr>
        <p:spPr>
          <a:xfrm>
            <a:off x="6350875" y="3753225"/>
            <a:ext cx="0" cy="528000"/>
          </a:xfrm>
          <a:prstGeom prst="straightConnector1">
            <a:avLst/>
          </a:prstGeom>
          <a:noFill/>
          <a:ln cap="flat" cmpd="sng" w="9525">
            <a:solidFill>
              <a:schemeClr val="dk1"/>
            </a:solidFill>
            <a:prstDash val="solid"/>
            <a:round/>
            <a:headEnd len="med" w="med" type="none"/>
            <a:tailEnd len="med" w="med" type="none"/>
          </a:ln>
        </p:spPr>
      </p:cxnSp>
      <p:sp>
        <p:nvSpPr>
          <p:cNvPr id="98" name="Google Shape;98;p15"/>
          <p:cNvSpPr/>
          <p:nvPr/>
        </p:nvSpPr>
        <p:spPr>
          <a:xfrm>
            <a:off x="2349850" y="2079675"/>
            <a:ext cx="7968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LiDAR Unit</a:t>
            </a:r>
            <a:endParaRPr/>
          </a:p>
        </p:txBody>
      </p:sp>
      <p:cxnSp>
        <p:nvCxnSpPr>
          <p:cNvPr id="99" name="Google Shape;99;p15"/>
          <p:cNvCxnSpPr>
            <a:stCxn id="98" idx="3"/>
            <a:endCxn id="80" idx="1"/>
          </p:cNvCxnSpPr>
          <p:nvPr/>
        </p:nvCxnSpPr>
        <p:spPr>
          <a:xfrm>
            <a:off x="3146650" y="2366025"/>
            <a:ext cx="1026900" cy="0"/>
          </a:xfrm>
          <a:prstGeom prst="straightConnector1">
            <a:avLst/>
          </a:prstGeom>
          <a:noFill/>
          <a:ln cap="flat" cmpd="sng" w="9525">
            <a:solidFill>
              <a:schemeClr val="dk1"/>
            </a:solidFill>
            <a:prstDash val="solid"/>
            <a:round/>
            <a:headEnd len="med" w="med" type="none"/>
            <a:tailEnd len="med" w="med" type="none"/>
          </a:ln>
        </p:spPr>
      </p:cxnSp>
      <p:sp>
        <p:nvSpPr>
          <p:cNvPr id="100" name="Google Shape;100;p15"/>
          <p:cNvSpPr/>
          <p:nvPr/>
        </p:nvSpPr>
        <p:spPr>
          <a:xfrm>
            <a:off x="2138650" y="3006825"/>
            <a:ext cx="10080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RGB-D Camera</a:t>
            </a:r>
            <a:endParaRPr/>
          </a:p>
        </p:txBody>
      </p:sp>
      <p:cxnSp>
        <p:nvCxnSpPr>
          <p:cNvPr id="101" name="Google Shape;101;p15"/>
          <p:cNvCxnSpPr>
            <a:stCxn id="100" idx="3"/>
            <a:endCxn id="80" idx="1"/>
          </p:cNvCxnSpPr>
          <p:nvPr/>
        </p:nvCxnSpPr>
        <p:spPr>
          <a:xfrm flipH="1" rot="10800000">
            <a:off x="3146650" y="2366175"/>
            <a:ext cx="1026900" cy="927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Voltron Network Block Diagram</a:t>
            </a:r>
            <a:endParaRPr/>
          </a:p>
          <a:p>
            <a:pPr indent="0" lvl="0" marL="0" rtl="0" algn="l">
              <a:spcBef>
                <a:spcPts val="0"/>
              </a:spcBef>
              <a:spcAft>
                <a:spcPts val="0"/>
              </a:spcAft>
              <a:buNone/>
            </a:pPr>
            <a:r>
              <a:t/>
            </a:r>
            <a:endParaRPr/>
          </a:p>
        </p:txBody>
      </p:sp>
      <p:pic>
        <p:nvPicPr>
          <p:cNvPr id="107" name="Google Shape;107;p16"/>
          <p:cNvPicPr preferRelativeResize="0"/>
          <p:nvPr/>
        </p:nvPicPr>
        <p:blipFill rotWithShape="1">
          <a:blip r:embed="rId3">
            <a:alphaModFix/>
          </a:blip>
          <a:srcRect b="1980" l="0" r="5285" t="0"/>
          <a:stretch/>
        </p:blipFill>
        <p:spPr>
          <a:xfrm>
            <a:off x="1614475" y="1201500"/>
            <a:ext cx="5915025" cy="3448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Flowchart for Software</a:t>
            </a:r>
            <a:endParaRPr/>
          </a:p>
        </p:txBody>
      </p:sp>
      <p:sp>
        <p:nvSpPr>
          <p:cNvPr id="113" name="Google Shape;11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 </a:t>
            </a:r>
            <a:endParaRPr>
              <a:solidFill>
                <a:schemeClr val="dk1"/>
              </a:solidFill>
            </a:endParaRPr>
          </a:p>
        </p:txBody>
      </p:sp>
      <p:pic>
        <p:nvPicPr>
          <p:cNvPr id="114" name="Google Shape;114;p17"/>
          <p:cNvPicPr preferRelativeResize="0"/>
          <p:nvPr/>
        </p:nvPicPr>
        <p:blipFill>
          <a:blip r:embed="rId3">
            <a:alphaModFix/>
          </a:blip>
          <a:stretch>
            <a:fillRect/>
          </a:stretch>
        </p:blipFill>
        <p:spPr>
          <a:xfrm>
            <a:off x="1094738" y="1132225"/>
            <a:ext cx="6954514" cy="3530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Major Parts</a:t>
            </a:r>
            <a:endParaRPr/>
          </a:p>
        </p:txBody>
      </p:sp>
      <p:graphicFrame>
        <p:nvGraphicFramePr>
          <p:cNvPr id="120" name="Google Shape;120;p18"/>
          <p:cNvGraphicFramePr/>
          <p:nvPr/>
        </p:nvGraphicFramePr>
        <p:xfrm>
          <a:off x="952500" y="1017725"/>
          <a:ext cx="3000000" cy="3000000"/>
        </p:xfrm>
        <a:graphic>
          <a:graphicData uri="http://schemas.openxmlformats.org/drawingml/2006/table">
            <a:tbl>
              <a:tblPr>
                <a:noFill/>
                <a:tableStyleId>{8173DC17-53C9-49F4-8CB5-DCCF265BB438}</a:tableStyleId>
              </a:tblPr>
              <a:tblGrid>
                <a:gridCol w="3619500"/>
                <a:gridCol w="3619500"/>
              </a:tblGrid>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Parts</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Model</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Absolute encoder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CUI AMT 102 encoder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Sensor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Littelfuse M12 Gear tooth Speed Sensor (x2)</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Sensor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Ouster Os-0 64 channel LiDAR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Camera</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Oak-D Pro</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Circuit Board</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PCB for VCU/SCU </a:t>
                      </a:r>
                      <a:r>
                        <a:rPr lang="en" sz="1200">
                          <a:solidFill>
                            <a:schemeClr val="dk1"/>
                          </a:solidFill>
                          <a:latin typeface="Calibri"/>
                          <a:ea typeface="Calibri"/>
                          <a:cs typeface="Calibri"/>
                          <a:sym typeface="Calibri"/>
                        </a:rPr>
                        <a:t>manufactured by JLC</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Motor Controller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Odrive Robotics D6374 -150kV</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Microcontroller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Teesny 4.1 Microcontroller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Steering Motor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DUAL SHAFT MOTOR - D6374 150kV</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CUI AMT 102 encoder</a:t>
            </a:r>
            <a:endParaRPr/>
          </a:p>
        </p:txBody>
      </p:sp>
      <p:sp>
        <p:nvSpPr>
          <p:cNvPr id="126" name="Google Shape;126;p19"/>
          <p:cNvSpPr txBox="1"/>
          <p:nvPr>
            <p:ph idx="1" type="body"/>
          </p:nvPr>
        </p:nvSpPr>
        <p:spPr>
          <a:xfrm>
            <a:off x="311700" y="1152475"/>
            <a:ext cx="43545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Font typeface="Arial"/>
              <a:buChar char="●"/>
            </a:pPr>
            <a:r>
              <a:rPr lang="en" sz="1400">
                <a:solidFill>
                  <a:schemeClr val="dk1"/>
                </a:solidFill>
              </a:rPr>
              <a:t>Patented capacitive ASIC technology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Low power consumption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CMOS outputs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16 DIP switch selectable resolutions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Index pulse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modular package design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straight (radial) and right-angle (axial) versions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9 mounting hole options for radial version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8 mounting hole options for axial version </a:t>
            </a:r>
            <a:endParaRPr sz="1400">
              <a:solidFill>
                <a:schemeClr val="dk1"/>
              </a:solidFill>
            </a:endParaRPr>
          </a:p>
          <a:p>
            <a:pPr indent="-317500" lvl="0" marL="457200" rtl="0" algn="l">
              <a:spcBef>
                <a:spcPts val="0"/>
              </a:spcBef>
              <a:spcAft>
                <a:spcPts val="0"/>
              </a:spcAft>
              <a:buClr>
                <a:schemeClr val="dk1"/>
              </a:buClr>
              <a:buSzPts val="1400"/>
              <a:buFont typeface="Arial"/>
              <a:buChar char="●"/>
            </a:pPr>
            <a:r>
              <a:rPr lang="en" sz="1400">
                <a:solidFill>
                  <a:schemeClr val="dk1"/>
                </a:solidFill>
              </a:rPr>
              <a:t>-40~100°C operating temperature</a:t>
            </a:r>
            <a:endParaRPr sz="1400">
              <a:solidFill>
                <a:schemeClr val="dk1"/>
              </a:solidFill>
            </a:endParaRPr>
          </a:p>
          <a:p>
            <a:pPr indent="0" lvl="0" marL="0" rtl="0" algn="l">
              <a:spcBef>
                <a:spcPts val="1200"/>
              </a:spcBef>
              <a:spcAft>
                <a:spcPts val="1200"/>
              </a:spcAft>
              <a:buNone/>
            </a:pPr>
            <a:r>
              <a:t/>
            </a:r>
            <a:endParaRPr/>
          </a:p>
        </p:txBody>
      </p:sp>
      <p:pic>
        <p:nvPicPr>
          <p:cNvPr id="127" name="Google Shape;127;p19"/>
          <p:cNvPicPr preferRelativeResize="0"/>
          <p:nvPr/>
        </p:nvPicPr>
        <p:blipFill>
          <a:blip r:embed="rId3">
            <a:alphaModFix/>
          </a:blip>
          <a:stretch>
            <a:fillRect/>
          </a:stretch>
        </p:blipFill>
        <p:spPr>
          <a:xfrm>
            <a:off x="5145655" y="1183188"/>
            <a:ext cx="3294325" cy="27771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Littelfuse M12 Geartooth Speed Sensor</a:t>
            </a:r>
            <a:endParaRPr/>
          </a:p>
        </p:txBody>
      </p:sp>
      <p:sp>
        <p:nvSpPr>
          <p:cNvPr id="133" name="Google Shape;133;p20"/>
          <p:cNvSpPr txBox="1"/>
          <p:nvPr>
            <p:ph idx="1" type="body"/>
          </p:nvPr>
        </p:nvSpPr>
        <p:spPr>
          <a:xfrm>
            <a:off x="311700" y="1152475"/>
            <a:ext cx="5673000" cy="21885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Ferrous target gear tooth speed sensor</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Stainless steel M12 threaded barrel</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Electronic protection against severe and automotive environments</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Self adjusting magnetic range</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Three-wire (voltage output)</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EMC Protection (Consult Littelfuse)</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Short circuit/reverse voltage protection</a:t>
            </a:r>
            <a:endParaRPr sz="1400">
              <a:latin typeface="Calibri"/>
              <a:ea typeface="Calibri"/>
              <a:cs typeface="Calibri"/>
              <a:sym typeface="Calibri"/>
            </a:endParaRPr>
          </a:p>
        </p:txBody>
      </p:sp>
      <p:pic>
        <p:nvPicPr>
          <p:cNvPr id="134" name="Google Shape;134;p20"/>
          <p:cNvPicPr preferRelativeResize="0"/>
          <p:nvPr/>
        </p:nvPicPr>
        <p:blipFill>
          <a:blip r:embed="rId3">
            <a:alphaModFix/>
          </a:blip>
          <a:stretch>
            <a:fillRect/>
          </a:stretch>
        </p:blipFill>
        <p:spPr>
          <a:xfrm>
            <a:off x="5984700" y="1152475"/>
            <a:ext cx="2951350" cy="295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Ouster Os-0 64 channel LiDAR</a:t>
            </a:r>
            <a:endParaRPr/>
          </a:p>
        </p:txBody>
      </p:sp>
      <p:sp>
        <p:nvSpPr>
          <p:cNvPr id="140" name="Google Shape;140;p21"/>
          <p:cNvSpPr txBox="1"/>
          <p:nvPr>
            <p:ph idx="1" type="body"/>
          </p:nvPr>
        </p:nvSpPr>
        <p:spPr>
          <a:xfrm>
            <a:off x="311700" y="1152475"/>
            <a:ext cx="3831300" cy="2406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35m Range at 10% reflectivity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100 m Max range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90º Vertical field of view</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64 Channels of resolution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5.2M Max points per second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10x Photon sensitivity</a:t>
            </a:r>
            <a:endParaRPr>
              <a:solidFill>
                <a:schemeClr val="dk1"/>
              </a:solidFill>
            </a:endParaRPr>
          </a:p>
          <a:p>
            <a:pPr indent="0" lvl="0" marL="0" rtl="0" algn="l">
              <a:spcBef>
                <a:spcPts val="1200"/>
              </a:spcBef>
              <a:spcAft>
                <a:spcPts val="1200"/>
              </a:spcAft>
              <a:buNone/>
            </a:pPr>
            <a:r>
              <a:t/>
            </a:r>
            <a:endParaRPr/>
          </a:p>
        </p:txBody>
      </p:sp>
      <p:pic>
        <p:nvPicPr>
          <p:cNvPr id="141" name="Google Shape;141;p21"/>
          <p:cNvPicPr preferRelativeResize="0"/>
          <p:nvPr/>
        </p:nvPicPr>
        <p:blipFill>
          <a:blip r:embed="rId3">
            <a:alphaModFix/>
          </a:blip>
          <a:stretch>
            <a:fillRect/>
          </a:stretch>
        </p:blipFill>
        <p:spPr>
          <a:xfrm>
            <a:off x="5090951" y="1010163"/>
            <a:ext cx="3601501" cy="3384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Teensy 4.1</a:t>
            </a:r>
            <a:endParaRPr/>
          </a:p>
        </p:txBody>
      </p:sp>
      <p:pic>
        <p:nvPicPr>
          <p:cNvPr id="147" name="Google Shape;147;p22"/>
          <p:cNvPicPr preferRelativeResize="0"/>
          <p:nvPr/>
        </p:nvPicPr>
        <p:blipFill>
          <a:blip r:embed="rId3">
            <a:alphaModFix/>
          </a:blip>
          <a:stretch>
            <a:fillRect/>
          </a:stretch>
        </p:blipFill>
        <p:spPr>
          <a:xfrm>
            <a:off x="311700" y="1411800"/>
            <a:ext cx="4244149" cy="2728362"/>
          </a:xfrm>
          <a:prstGeom prst="rect">
            <a:avLst/>
          </a:prstGeom>
          <a:noFill/>
          <a:ln>
            <a:noFill/>
          </a:ln>
        </p:spPr>
      </p:pic>
      <p:pic>
        <p:nvPicPr>
          <p:cNvPr id="148" name="Google Shape;148;p22"/>
          <p:cNvPicPr preferRelativeResize="0"/>
          <p:nvPr/>
        </p:nvPicPr>
        <p:blipFill>
          <a:blip r:embed="rId4">
            <a:alphaModFix/>
          </a:blip>
          <a:stretch>
            <a:fillRect/>
          </a:stretch>
        </p:blipFill>
        <p:spPr>
          <a:xfrm>
            <a:off x="4976850" y="1950650"/>
            <a:ext cx="3565626" cy="1242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 SHAFT MOTOR - D6374 150kV</a:t>
            </a:r>
            <a:endParaRPr/>
          </a:p>
        </p:txBody>
      </p:sp>
      <p:pic>
        <p:nvPicPr>
          <p:cNvPr id="154" name="Google Shape;154;p23"/>
          <p:cNvPicPr preferRelativeResize="0"/>
          <p:nvPr/>
        </p:nvPicPr>
        <p:blipFill>
          <a:blip r:embed="rId3">
            <a:alphaModFix/>
          </a:blip>
          <a:stretch>
            <a:fillRect/>
          </a:stretch>
        </p:blipFill>
        <p:spPr>
          <a:xfrm>
            <a:off x="613800" y="1485525"/>
            <a:ext cx="3500000" cy="2800000"/>
          </a:xfrm>
          <a:prstGeom prst="rect">
            <a:avLst/>
          </a:prstGeom>
          <a:noFill/>
          <a:ln>
            <a:noFill/>
          </a:ln>
        </p:spPr>
      </p:pic>
      <p:pic>
        <p:nvPicPr>
          <p:cNvPr id="155" name="Google Shape;155;p23"/>
          <p:cNvPicPr preferRelativeResize="0"/>
          <p:nvPr/>
        </p:nvPicPr>
        <p:blipFill>
          <a:blip r:embed="rId4">
            <a:alphaModFix/>
          </a:blip>
          <a:stretch>
            <a:fillRect/>
          </a:stretch>
        </p:blipFill>
        <p:spPr>
          <a:xfrm>
            <a:off x="4516700" y="1363175"/>
            <a:ext cx="4059600" cy="3044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Odrive Robotics D6374 -150kV</a:t>
            </a:r>
            <a:endParaRPr/>
          </a:p>
        </p:txBody>
      </p:sp>
      <p:sp>
        <p:nvSpPr>
          <p:cNvPr id="161" name="Google Shape;161;p2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chemeClr val="dk1"/>
              </a:buClr>
              <a:buSzPts val="1200"/>
              <a:buChar char="●"/>
            </a:pPr>
            <a:r>
              <a:rPr lang="en" sz="1200">
                <a:solidFill>
                  <a:schemeClr val="dk1"/>
                </a:solidFill>
              </a:rPr>
              <a:t>Precise control and drive of brushless motors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15-58V DC voltage range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120A peak motor current, 70A continuous</a:t>
            </a:r>
            <a:r>
              <a:rPr lang="en" sz="1200">
                <a:solidFill>
                  <a:schemeClr val="dk1"/>
                </a:solidFill>
                <a:uFill>
                  <a:noFill/>
                </a:uFill>
                <a:hlinkClick r:id="rId3">
                  <a:extLst>
                    <a:ext uri="{A12FA001-AC4F-418D-AE19-62706E023703}">
                      <ahyp:hlinkClr val="tx"/>
                    </a:ext>
                  </a:extLst>
                </a:hlinkClick>
              </a:rPr>
              <a:t> with cooling</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Encoder feedback for precise servo motion</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On-board absolute on-axis magnetic encoder</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Absolute encoder over RS485, incremental encoder, Hall sensors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Regenerative</a:t>
            </a:r>
            <a:r>
              <a:rPr lang="en" sz="1200">
                <a:solidFill>
                  <a:schemeClr val="dk1"/>
                </a:solidFill>
              </a:rPr>
              <a:t> braking power back to DC power.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Semi-isolated or fully isolated CAN-FD </a:t>
            </a:r>
            <a:r>
              <a:rPr lang="en" sz="1200">
                <a:solidFill>
                  <a:schemeClr val="dk1"/>
                </a:solidFill>
              </a:rPr>
              <a:t>transceiver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Motor thermistor temperature feedback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12V fan output</a:t>
            </a:r>
            <a:endParaRPr sz="1200">
              <a:solidFill>
                <a:schemeClr val="dk1"/>
              </a:solidFill>
            </a:endParaRPr>
          </a:p>
          <a:p>
            <a:pPr indent="0" lvl="0" marL="0" rtl="0" algn="l">
              <a:spcBef>
                <a:spcPts val="1200"/>
              </a:spcBef>
              <a:spcAft>
                <a:spcPts val="1200"/>
              </a:spcAft>
              <a:buNone/>
            </a:pPr>
            <a:r>
              <a:t/>
            </a:r>
            <a:endParaRPr/>
          </a:p>
        </p:txBody>
      </p:sp>
      <p:pic>
        <p:nvPicPr>
          <p:cNvPr id="162" name="Google Shape;162;p24"/>
          <p:cNvPicPr preferRelativeResize="0"/>
          <p:nvPr/>
        </p:nvPicPr>
        <p:blipFill>
          <a:blip r:embed="rId4">
            <a:alphaModFix/>
          </a:blip>
          <a:stretch>
            <a:fillRect/>
          </a:stretch>
        </p:blipFill>
        <p:spPr>
          <a:xfrm>
            <a:off x="5494400" y="1417088"/>
            <a:ext cx="3113626" cy="2887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Oak-D Pro</a:t>
            </a:r>
            <a:endParaRPr/>
          </a:p>
        </p:txBody>
      </p:sp>
      <p:sp>
        <p:nvSpPr>
          <p:cNvPr id="168" name="Google Shape;168;p25"/>
          <p:cNvSpPr txBox="1"/>
          <p:nvPr>
            <p:ph idx="1" type="body"/>
          </p:nvPr>
        </p:nvSpPr>
        <p:spPr>
          <a:xfrm>
            <a:off x="311700" y="1152475"/>
            <a:ext cx="39840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Clr>
                <a:schemeClr val="dk1"/>
              </a:buClr>
              <a:buSzPct val="100000"/>
              <a:buChar char="●"/>
            </a:pPr>
            <a:r>
              <a:rPr lang="en">
                <a:solidFill>
                  <a:schemeClr val="dk1"/>
                </a:solidFill>
              </a:rPr>
              <a:t>USB-C connector for both power and communication, supporting USB2 and USB3 protocols (5Gbps / 10Gbps)</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IR illumination LED: allows perceiving low-light and no-light environments</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IR laser dot projector (active stereo): improves depth perception, especially for low-visual-interest surfaces (little or no surface texture) </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4 TOPS of processing power (1.4 TOPS for AI)</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Run any AI model, even custom architectured/built ones</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Encoding: H.264, H.265, MJPEG - 4K/30FPS, 1080P/60FPS</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Computer vision: warp/dewarp, resize, crop, edge detection, feature tracking</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Stereo depth perception at 120 FPS with filtering</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Object tracking: 2D and 3D tracking</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Dimension: 97x29.5x22.9 mm </a:t>
            </a:r>
            <a:endParaRPr>
              <a:solidFill>
                <a:schemeClr val="dk1"/>
              </a:solidFill>
            </a:endParaRPr>
          </a:p>
          <a:p>
            <a:pPr indent="-300038" lvl="0" marL="457200" rtl="0" algn="l">
              <a:spcBef>
                <a:spcPts val="0"/>
              </a:spcBef>
              <a:spcAft>
                <a:spcPts val="0"/>
              </a:spcAft>
              <a:buClr>
                <a:schemeClr val="dk1"/>
              </a:buClr>
              <a:buSzPct val="100000"/>
              <a:buChar char="●"/>
            </a:pPr>
            <a:r>
              <a:rPr lang="en">
                <a:solidFill>
                  <a:schemeClr val="dk1"/>
                </a:solidFill>
              </a:rPr>
              <a:t>Weight: 91g</a:t>
            </a:r>
            <a:endParaRPr>
              <a:solidFill>
                <a:schemeClr val="dk1"/>
              </a:solidFill>
            </a:endParaRPr>
          </a:p>
        </p:txBody>
      </p:sp>
      <p:pic>
        <p:nvPicPr>
          <p:cNvPr id="169" name="Google Shape;169;p25"/>
          <p:cNvPicPr preferRelativeResize="0"/>
          <p:nvPr/>
        </p:nvPicPr>
        <p:blipFill>
          <a:blip r:embed="rId3">
            <a:alphaModFix/>
          </a:blip>
          <a:stretch>
            <a:fillRect/>
          </a:stretch>
        </p:blipFill>
        <p:spPr>
          <a:xfrm>
            <a:off x="4572002" y="1335625"/>
            <a:ext cx="4090700" cy="3164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Defining Our Minimum Success Criteria</a:t>
            </a:r>
            <a:endParaRPr/>
          </a:p>
        </p:txBody>
      </p:sp>
      <p:sp>
        <p:nvSpPr>
          <p:cNvPr id="175" name="Google Shape;175;p26"/>
          <p:cNvSpPr txBox="1"/>
          <p:nvPr>
            <p:ph idx="1" type="body"/>
          </p:nvPr>
        </p:nvSpPr>
        <p:spPr>
          <a:xfrm>
            <a:off x="311700" y="1152475"/>
            <a:ext cx="8520600" cy="3747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0"/>
              </a:spcAft>
              <a:buNone/>
            </a:pPr>
            <a:r>
              <a:rPr b="1" lang="en" sz="2900">
                <a:solidFill>
                  <a:schemeClr val="dk1"/>
                </a:solidFill>
              </a:rPr>
              <a:t>Constraints: Economics, Accuracy, and Reliability </a:t>
            </a:r>
            <a:endParaRPr b="1" sz="2900">
              <a:solidFill>
                <a:schemeClr val="dk1"/>
              </a:solidFill>
            </a:endParaRPr>
          </a:p>
          <a:p>
            <a:pPr indent="0" lvl="0" marL="0" rtl="0" algn="l">
              <a:lnSpc>
                <a:spcPct val="115000"/>
              </a:lnSpc>
              <a:spcBef>
                <a:spcPts val="0"/>
              </a:spcBef>
              <a:spcAft>
                <a:spcPts val="0"/>
              </a:spcAft>
              <a:buNone/>
            </a:pPr>
            <a:r>
              <a:t/>
            </a:r>
            <a:endParaRPr sz="2900"/>
          </a:p>
          <a:p>
            <a:pPr indent="0" lvl="0" marL="457200" rtl="0" algn="l">
              <a:lnSpc>
                <a:spcPct val="115000"/>
              </a:lnSpc>
              <a:spcBef>
                <a:spcPts val="0"/>
              </a:spcBef>
              <a:spcAft>
                <a:spcPts val="0"/>
              </a:spcAft>
              <a:buNone/>
            </a:pPr>
            <a:r>
              <a:rPr lang="en" sz="2900">
                <a:solidFill>
                  <a:schemeClr val="dk1"/>
                </a:solidFill>
              </a:rPr>
              <a:t>Accurate and timely odometry system with a publication rate of 100hz:</a:t>
            </a:r>
            <a:endParaRPr sz="2900">
              <a:solidFill>
                <a:schemeClr val="dk1"/>
              </a:solidFill>
            </a:endParaRPr>
          </a:p>
          <a:p>
            <a:pPr indent="-343724" lvl="0" marL="914400" rtl="0" algn="l">
              <a:lnSpc>
                <a:spcPct val="115000"/>
              </a:lnSpc>
              <a:spcBef>
                <a:spcPts val="0"/>
              </a:spcBef>
              <a:spcAft>
                <a:spcPts val="0"/>
              </a:spcAft>
              <a:buClr>
                <a:schemeClr val="dk1"/>
              </a:buClr>
              <a:buSzPct val="100000"/>
              <a:buChar char="●"/>
            </a:pPr>
            <a:r>
              <a:rPr lang="en" sz="2900">
                <a:solidFill>
                  <a:schemeClr val="dk1"/>
                </a:solidFill>
              </a:rPr>
              <a:t>Built with </a:t>
            </a:r>
            <a:r>
              <a:rPr lang="en" sz="2900">
                <a:solidFill>
                  <a:schemeClr val="dk1"/>
                </a:solidFill>
                <a:highlight>
                  <a:srgbClr val="3C78D8"/>
                </a:highlight>
              </a:rPr>
              <a:t>cost-effective</a:t>
            </a:r>
            <a:r>
              <a:rPr lang="en" sz="2900">
                <a:solidFill>
                  <a:schemeClr val="dk1"/>
                </a:solidFill>
              </a:rPr>
              <a:t> parts that provide a </a:t>
            </a:r>
            <a:r>
              <a:rPr lang="en" sz="2900">
                <a:solidFill>
                  <a:schemeClr val="dk1"/>
                </a:solidFill>
                <a:highlight>
                  <a:srgbClr val="4A86E8"/>
                </a:highlight>
              </a:rPr>
              <a:t>high cost-benefit</a:t>
            </a:r>
            <a:r>
              <a:rPr lang="en" sz="2900">
                <a:solidFill>
                  <a:schemeClr val="dk1"/>
                </a:solidFill>
              </a:rPr>
              <a:t> ratio</a:t>
            </a:r>
            <a:endParaRPr sz="2900">
              <a:solidFill>
                <a:schemeClr val="dk1"/>
              </a:solidFill>
            </a:endParaRPr>
          </a:p>
          <a:p>
            <a:pPr indent="-343724" lvl="0" marL="914400" rtl="0" algn="l">
              <a:lnSpc>
                <a:spcPct val="115000"/>
              </a:lnSpc>
              <a:spcBef>
                <a:spcPts val="0"/>
              </a:spcBef>
              <a:spcAft>
                <a:spcPts val="0"/>
              </a:spcAft>
              <a:buClr>
                <a:schemeClr val="dk1"/>
              </a:buClr>
              <a:buSzPct val="100000"/>
              <a:buChar char="●"/>
            </a:pPr>
            <a:r>
              <a:rPr lang="en" sz="2900">
                <a:solidFill>
                  <a:schemeClr val="dk1"/>
                </a:solidFill>
              </a:rPr>
              <a:t>Must maintain </a:t>
            </a:r>
            <a:r>
              <a:rPr lang="en" sz="2900">
                <a:solidFill>
                  <a:schemeClr val="dk1"/>
                </a:solidFill>
                <a:highlight>
                  <a:srgbClr val="4A86E8"/>
                </a:highlight>
              </a:rPr>
              <a:t>reliability</a:t>
            </a:r>
            <a:r>
              <a:rPr lang="en" sz="2900">
                <a:solidFill>
                  <a:schemeClr val="dk1"/>
                </a:solidFill>
              </a:rPr>
              <a:t> and </a:t>
            </a:r>
            <a:r>
              <a:rPr lang="en" sz="2900">
                <a:solidFill>
                  <a:schemeClr val="dk1"/>
                </a:solidFill>
                <a:highlight>
                  <a:srgbClr val="4A86E8"/>
                </a:highlight>
              </a:rPr>
              <a:t>accuracy</a:t>
            </a:r>
            <a:endParaRPr sz="2900">
              <a:solidFill>
                <a:schemeClr val="dk1"/>
              </a:solidFill>
              <a:highlight>
                <a:srgbClr val="4A86E8"/>
              </a:highlight>
            </a:endParaRPr>
          </a:p>
          <a:p>
            <a:pPr indent="0" lvl="0" marL="914400" rtl="0" algn="l">
              <a:lnSpc>
                <a:spcPct val="115000"/>
              </a:lnSpc>
              <a:spcBef>
                <a:spcPts val="0"/>
              </a:spcBef>
              <a:spcAft>
                <a:spcPts val="0"/>
              </a:spcAft>
              <a:buNone/>
            </a:pPr>
            <a:r>
              <a:t/>
            </a:r>
            <a:endParaRPr sz="2900">
              <a:solidFill>
                <a:schemeClr val="dk1"/>
              </a:solidFill>
            </a:endParaRPr>
          </a:p>
          <a:p>
            <a:pPr indent="0" lvl="0" marL="0" rtl="0" algn="l">
              <a:lnSpc>
                <a:spcPct val="115000"/>
              </a:lnSpc>
              <a:spcBef>
                <a:spcPts val="0"/>
              </a:spcBef>
              <a:spcAft>
                <a:spcPts val="0"/>
              </a:spcAft>
              <a:buNone/>
            </a:pPr>
            <a:r>
              <a:t/>
            </a:r>
            <a:endParaRPr sz="2900">
              <a:solidFill>
                <a:schemeClr val="dk1"/>
              </a:solidFill>
            </a:endParaRPr>
          </a:p>
          <a:p>
            <a:pPr indent="457200" lvl="0" marL="0" rtl="0" algn="l">
              <a:lnSpc>
                <a:spcPct val="115000"/>
              </a:lnSpc>
              <a:spcBef>
                <a:spcPts val="0"/>
              </a:spcBef>
              <a:spcAft>
                <a:spcPts val="0"/>
              </a:spcAft>
              <a:buNone/>
            </a:pPr>
            <a:r>
              <a:rPr lang="en" sz="2900">
                <a:solidFill>
                  <a:schemeClr val="dk1"/>
                </a:solidFill>
              </a:rPr>
              <a:t>20% improvement in grounded stationary steering settling time:</a:t>
            </a:r>
            <a:endParaRPr sz="2900">
              <a:solidFill>
                <a:schemeClr val="dk1"/>
              </a:solidFill>
            </a:endParaRPr>
          </a:p>
          <a:p>
            <a:pPr indent="-343724" lvl="0" marL="914400" rtl="0" algn="l">
              <a:lnSpc>
                <a:spcPct val="115000"/>
              </a:lnSpc>
              <a:spcBef>
                <a:spcPts val="0"/>
              </a:spcBef>
              <a:spcAft>
                <a:spcPts val="0"/>
              </a:spcAft>
              <a:buClr>
                <a:schemeClr val="dk1"/>
              </a:buClr>
              <a:buSzPct val="100000"/>
              <a:buChar char="●"/>
            </a:pPr>
            <a:r>
              <a:rPr lang="en" sz="2900">
                <a:solidFill>
                  <a:schemeClr val="dk1"/>
                </a:solidFill>
              </a:rPr>
              <a:t>Current settling time is 1.1867 seconds while stationary, grounded, and fully charged</a:t>
            </a:r>
            <a:endParaRPr sz="2900">
              <a:solidFill>
                <a:schemeClr val="dk1"/>
              </a:solidFill>
            </a:endParaRPr>
          </a:p>
          <a:p>
            <a:pPr indent="-343724" lvl="0" marL="914400" rtl="0" algn="l">
              <a:lnSpc>
                <a:spcPct val="115000"/>
              </a:lnSpc>
              <a:spcBef>
                <a:spcPts val="0"/>
              </a:spcBef>
              <a:spcAft>
                <a:spcPts val="0"/>
              </a:spcAft>
              <a:buClr>
                <a:schemeClr val="dk1"/>
              </a:buClr>
              <a:buSzPct val="100000"/>
              <a:buChar char="●"/>
            </a:pPr>
            <a:r>
              <a:rPr lang="en" sz="2900">
                <a:solidFill>
                  <a:schemeClr val="dk1"/>
                </a:solidFill>
              </a:rPr>
              <a:t>Desired settling time must be 0.949 seconds or less</a:t>
            </a:r>
            <a:endParaRPr sz="2900">
              <a:solidFill>
                <a:schemeClr val="dk1"/>
              </a:solidFill>
            </a:endParaRPr>
          </a:p>
          <a:p>
            <a:pPr indent="0" lvl="0" marL="914400" rtl="0" algn="l">
              <a:lnSpc>
                <a:spcPct val="115000"/>
              </a:lnSpc>
              <a:spcBef>
                <a:spcPts val="0"/>
              </a:spcBef>
              <a:spcAft>
                <a:spcPts val="0"/>
              </a:spcAft>
              <a:buNone/>
            </a:pPr>
            <a:r>
              <a:t/>
            </a:r>
            <a:endParaRPr sz="2900">
              <a:solidFill>
                <a:schemeClr val="dk1"/>
              </a:solidFill>
            </a:endParaRPr>
          </a:p>
          <a:p>
            <a:pPr indent="0" lvl="0" marL="0" rtl="0" algn="l">
              <a:lnSpc>
                <a:spcPct val="115000"/>
              </a:lnSpc>
              <a:spcBef>
                <a:spcPts val="1200"/>
              </a:spcBef>
              <a:spcAft>
                <a:spcPts val="1200"/>
              </a:spcAft>
              <a:buSzPct val="222222"/>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Defining Our Minimum Success Criteria cont.  </a:t>
            </a:r>
            <a:endParaRPr/>
          </a:p>
        </p:txBody>
      </p:sp>
      <p:sp>
        <p:nvSpPr>
          <p:cNvPr id="181" name="Google Shape;181;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sz="1550">
                <a:solidFill>
                  <a:schemeClr val="dk1"/>
                </a:solidFill>
              </a:rPr>
              <a:t>Constraints: Economics, Accuracy, and Reliability</a:t>
            </a:r>
            <a:endParaRPr b="1" sz="1550">
              <a:solidFill>
                <a:schemeClr val="dk1"/>
              </a:solidFill>
            </a:endParaRPr>
          </a:p>
          <a:p>
            <a:pPr indent="0" lvl="0" marL="0" rtl="0" algn="l">
              <a:spcBef>
                <a:spcPts val="0"/>
              </a:spcBef>
              <a:spcAft>
                <a:spcPts val="0"/>
              </a:spcAft>
              <a:buNone/>
            </a:pPr>
            <a:r>
              <a:t/>
            </a:r>
            <a:endParaRPr b="1" sz="1550">
              <a:solidFill>
                <a:schemeClr val="dk1"/>
              </a:solidFill>
            </a:endParaRPr>
          </a:p>
          <a:p>
            <a:pPr indent="457200" lvl="0" marL="0" rtl="0" algn="l">
              <a:spcBef>
                <a:spcPts val="0"/>
              </a:spcBef>
              <a:spcAft>
                <a:spcPts val="0"/>
              </a:spcAft>
              <a:buNone/>
            </a:pPr>
            <a:r>
              <a:rPr lang="en" sz="1550">
                <a:solidFill>
                  <a:schemeClr val="dk1"/>
                </a:solidFill>
              </a:rPr>
              <a:t>Rigid and robust mounting system for LiDAR and camera:</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Must be easily removable for independent testing</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Must be </a:t>
            </a:r>
            <a:r>
              <a:rPr lang="en" sz="1550">
                <a:solidFill>
                  <a:schemeClr val="dk1"/>
                </a:solidFill>
                <a:highlight>
                  <a:srgbClr val="4A86E8"/>
                </a:highlight>
              </a:rPr>
              <a:t>manufacturable</a:t>
            </a:r>
            <a:r>
              <a:rPr lang="en" sz="1550">
                <a:solidFill>
                  <a:schemeClr val="dk1"/>
                </a:solidFill>
              </a:rPr>
              <a:t> with on-campus resources</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Must protect the camera and LiDAR from on-track dangers such as impacting cones and barriers</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Must be able to sustain a 10 lb lateral load on upper platform with no permanent deformation</a:t>
            </a:r>
            <a:endParaRPr sz="1550">
              <a:solidFill>
                <a:schemeClr val="dk1"/>
              </a:solidFill>
            </a:endParaRPr>
          </a:p>
          <a:p>
            <a:pPr indent="0" lvl="0" marL="2286000" rtl="0" algn="l">
              <a:spcBef>
                <a:spcPts val="0"/>
              </a:spcBef>
              <a:spcAft>
                <a:spcPts val="0"/>
              </a:spcAft>
              <a:buNone/>
            </a:pPr>
            <a:r>
              <a:t/>
            </a:r>
            <a:endParaRPr sz="1550">
              <a:solidFill>
                <a:schemeClr val="dk1"/>
              </a:solidFill>
            </a:endParaRPr>
          </a:p>
          <a:p>
            <a:pPr indent="0" lvl="0" marL="457200" rtl="0" algn="l">
              <a:spcBef>
                <a:spcPts val="0"/>
              </a:spcBef>
              <a:spcAft>
                <a:spcPts val="0"/>
              </a:spcAft>
              <a:buNone/>
            </a:pPr>
            <a:r>
              <a:t/>
            </a:r>
            <a:endParaRPr sz="1550">
              <a:solidFill>
                <a:schemeClr val="dk1"/>
              </a:solidFill>
            </a:endParaRPr>
          </a:p>
          <a:p>
            <a:pPr indent="0" lvl="0" marL="457200" rtl="0" algn="l">
              <a:spcBef>
                <a:spcPts val="0"/>
              </a:spcBef>
              <a:spcAft>
                <a:spcPts val="0"/>
              </a:spcAft>
              <a:buNone/>
            </a:pPr>
            <a:r>
              <a:rPr lang="en" sz="1550">
                <a:solidFill>
                  <a:schemeClr val="dk1"/>
                </a:solidFill>
              </a:rPr>
              <a:t>Redesigned steering gearbox to reduce backlash and improve accuracy:</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Goal is to achieve a 20% reduction in wheel backlash</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rPr>
              <a:t>Redesigned gearbox should provide a </a:t>
            </a:r>
            <a:r>
              <a:rPr lang="en" sz="1550">
                <a:solidFill>
                  <a:schemeClr val="dk1"/>
                </a:solidFill>
                <a:highlight>
                  <a:srgbClr val="4A86E8"/>
                </a:highlight>
              </a:rPr>
              <a:t>more precise</a:t>
            </a:r>
            <a:r>
              <a:rPr lang="en" sz="1550">
                <a:solidFill>
                  <a:schemeClr val="dk1"/>
                </a:solidFill>
              </a:rPr>
              <a:t> steering response and better handling</a:t>
            </a:r>
            <a:endParaRPr sz="1550">
              <a:solidFill>
                <a:schemeClr val="dk1"/>
              </a:solidFill>
            </a:endParaRPr>
          </a:p>
          <a:p>
            <a:pPr indent="-312261" lvl="0" marL="1371600" rtl="0" algn="l">
              <a:spcBef>
                <a:spcPts val="0"/>
              </a:spcBef>
              <a:spcAft>
                <a:spcPts val="0"/>
              </a:spcAft>
              <a:buClr>
                <a:schemeClr val="dk1"/>
              </a:buClr>
              <a:buSzPct val="100000"/>
              <a:buChar char="●"/>
            </a:pPr>
            <a:r>
              <a:rPr lang="en" sz="1550">
                <a:solidFill>
                  <a:schemeClr val="dk1"/>
                </a:solidFill>
                <a:highlight>
                  <a:srgbClr val="4A86E8"/>
                </a:highlight>
              </a:rPr>
              <a:t>Cost-benefit</a:t>
            </a:r>
            <a:r>
              <a:rPr lang="en" sz="1550">
                <a:solidFill>
                  <a:schemeClr val="dk1"/>
                </a:solidFill>
              </a:rPr>
              <a:t> ratio of the parts used must be considered.</a:t>
            </a:r>
            <a:endParaRPr sz="1550">
              <a:solidFill>
                <a:schemeClr val="dk1"/>
              </a:solidFill>
            </a:endParaRPr>
          </a:p>
          <a:p>
            <a:pPr indent="0" lvl="0" marL="914400" rtl="0" algn="l">
              <a:spcBef>
                <a:spcPts val="0"/>
              </a:spcBef>
              <a:spcAft>
                <a:spcPts val="0"/>
              </a:spcAft>
              <a:buNone/>
            </a:pPr>
            <a:r>
              <a:t/>
            </a:r>
            <a:endParaRPr b="1" sz="1550">
              <a:solidFill>
                <a:schemeClr val="dk1"/>
              </a:solidFill>
            </a:endParaRPr>
          </a:p>
          <a:p>
            <a:pPr indent="0" lvl="0" marL="0" rtl="0" algn="l">
              <a:spcBef>
                <a:spcPts val="0"/>
              </a:spcBef>
              <a:spcAft>
                <a:spcPts val="0"/>
              </a:spcAft>
              <a:buNone/>
            </a:pPr>
            <a:r>
              <a:t/>
            </a:r>
            <a:endParaRPr b="1" sz="2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920"/>
              <a:t>Major Works</a:t>
            </a:r>
            <a:endParaRPr sz="1920">
              <a:highlight>
                <a:srgbClr val="FF9900"/>
              </a:highlight>
            </a:endParaRPr>
          </a:p>
        </p:txBody>
      </p:sp>
      <p:sp>
        <p:nvSpPr>
          <p:cNvPr id="187" name="Google Shape;18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lnSpc>
                <a:spcPct val="95000"/>
              </a:lnSpc>
              <a:spcBef>
                <a:spcPts val="0"/>
              </a:spcBef>
              <a:spcAft>
                <a:spcPts val="0"/>
              </a:spcAft>
              <a:buSzPct val="65385"/>
              <a:buNone/>
            </a:pPr>
            <a:r>
              <a:rPr lang="en" sz="1430">
                <a:solidFill>
                  <a:schemeClr val="dk1"/>
                </a:solidFill>
              </a:rPr>
              <a:t>Mechanical design tasks (35% of project):</a:t>
            </a:r>
            <a:endParaRPr sz="1430">
              <a:solidFill>
                <a:schemeClr val="dk1"/>
              </a:solidFill>
            </a:endParaRPr>
          </a:p>
          <a:p>
            <a:pPr indent="0" lvl="0" marL="0" rtl="0" algn="l">
              <a:lnSpc>
                <a:spcPct val="95000"/>
              </a:lnSpc>
              <a:spcBef>
                <a:spcPts val="1200"/>
              </a:spcBef>
              <a:spcAft>
                <a:spcPts val="0"/>
              </a:spcAft>
              <a:buSzPct val="65385"/>
              <a:buNone/>
            </a:pPr>
            <a:r>
              <a:rPr lang="en" sz="1430">
                <a:solidFill>
                  <a:schemeClr val="dk1"/>
                </a:solidFill>
              </a:rPr>
              <a:t>Mechanical design work was deemed the most </a:t>
            </a:r>
            <a:r>
              <a:rPr lang="en" sz="1430">
                <a:solidFill>
                  <a:schemeClr val="dk1"/>
                </a:solidFill>
              </a:rPr>
              <a:t>effective</a:t>
            </a:r>
            <a:r>
              <a:rPr lang="en" sz="1430">
                <a:solidFill>
                  <a:schemeClr val="dk1"/>
                </a:solidFill>
              </a:rPr>
              <a:t> means of improving </a:t>
            </a:r>
            <a:r>
              <a:rPr lang="en" sz="1430">
                <a:solidFill>
                  <a:schemeClr val="dk1"/>
                </a:solidFill>
              </a:rPr>
              <a:t>steering</a:t>
            </a:r>
            <a:r>
              <a:rPr lang="en" sz="1430">
                <a:solidFill>
                  <a:schemeClr val="dk1"/>
                </a:solidFill>
              </a:rPr>
              <a:t> performance. To reduce steering play and improve accuracy. A redesign of the gearbox was the most economical course of action to </a:t>
            </a:r>
            <a:r>
              <a:rPr lang="en" sz="1430">
                <a:solidFill>
                  <a:schemeClr val="dk1"/>
                </a:solidFill>
              </a:rPr>
              <a:t>pursue</a:t>
            </a:r>
            <a:r>
              <a:rPr lang="en" sz="1430">
                <a:solidFill>
                  <a:schemeClr val="dk1"/>
                </a:solidFill>
              </a:rPr>
              <a:t>.</a:t>
            </a:r>
            <a:endParaRPr sz="1430">
              <a:solidFill>
                <a:schemeClr val="dk1"/>
              </a:solidFill>
            </a:endParaRPr>
          </a:p>
          <a:p>
            <a:pPr indent="-305784" lvl="0" marL="457200" rtl="0" algn="l">
              <a:lnSpc>
                <a:spcPct val="95000"/>
              </a:lnSpc>
              <a:spcBef>
                <a:spcPts val="1200"/>
              </a:spcBef>
              <a:spcAft>
                <a:spcPts val="0"/>
              </a:spcAft>
              <a:buClr>
                <a:schemeClr val="dk1"/>
              </a:buClr>
              <a:buSzPct val="100000"/>
              <a:buChar char="●"/>
            </a:pPr>
            <a:r>
              <a:rPr lang="en" sz="1430">
                <a:solidFill>
                  <a:schemeClr val="dk1"/>
                </a:solidFill>
              </a:rPr>
              <a:t>Implemented and improved the accuracy of the system </a:t>
            </a:r>
            <a:r>
              <a:rPr lang="en" sz="1430">
                <a:solidFill>
                  <a:schemeClr val="dk1"/>
                </a:solidFill>
              </a:rPr>
              <a:t>steering</a:t>
            </a:r>
            <a:r>
              <a:rPr lang="en" sz="1430">
                <a:solidFill>
                  <a:schemeClr val="dk1"/>
                </a:solidFill>
              </a:rPr>
              <a:t> system through tighter </a:t>
            </a:r>
            <a:r>
              <a:rPr lang="en" sz="1430">
                <a:solidFill>
                  <a:schemeClr val="dk1"/>
                </a:solidFill>
              </a:rPr>
              <a:t>tolerance</a:t>
            </a:r>
            <a:r>
              <a:rPr lang="en" sz="1430">
                <a:solidFill>
                  <a:schemeClr val="dk1"/>
                </a:solidFill>
              </a:rPr>
              <a:t> of the steering gearbox</a:t>
            </a:r>
            <a:endParaRPr sz="1430">
              <a:solidFill>
                <a:schemeClr val="dk1"/>
              </a:solidFill>
            </a:endParaRPr>
          </a:p>
          <a:p>
            <a:pPr indent="-305784" lvl="0" marL="457200" rtl="0" algn="l">
              <a:lnSpc>
                <a:spcPct val="95000"/>
              </a:lnSpc>
              <a:spcBef>
                <a:spcPts val="0"/>
              </a:spcBef>
              <a:spcAft>
                <a:spcPts val="0"/>
              </a:spcAft>
              <a:buClr>
                <a:schemeClr val="dk1"/>
              </a:buClr>
              <a:buSzPct val="100000"/>
              <a:buChar char="●"/>
            </a:pPr>
            <a:r>
              <a:rPr lang="en" sz="1430">
                <a:solidFill>
                  <a:schemeClr val="dk1"/>
                </a:solidFill>
              </a:rPr>
              <a:t>Created a gearbox that reduces unwanted wheel movement while improving steering speeds through increased power and lower gear ratios.</a:t>
            </a:r>
            <a:endParaRPr sz="1430">
              <a:solidFill>
                <a:schemeClr val="dk1"/>
              </a:solidFill>
            </a:endParaRPr>
          </a:p>
          <a:p>
            <a:pPr indent="0" lvl="0" marL="0" rtl="0" algn="l">
              <a:lnSpc>
                <a:spcPct val="95000"/>
              </a:lnSpc>
              <a:spcBef>
                <a:spcPts val="1200"/>
              </a:spcBef>
              <a:spcAft>
                <a:spcPts val="0"/>
              </a:spcAft>
              <a:buSzPct val="65385"/>
              <a:buNone/>
            </a:pPr>
            <a:r>
              <a:rPr lang="en" sz="1430">
                <a:solidFill>
                  <a:schemeClr val="dk1"/>
                </a:solidFill>
              </a:rPr>
              <a:t>Electrical design tasks (10% of project):</a:t>
            </a:r>
            <a:endParaRPr sz="1430">
              <a:solidFill>
                <a:schemeClr val="dk1"/>
              </a:solidFill>
            </a:endParaRPr>
          </a:p>
          <a:p>
            <a:pPr indent="0" lvl="0" marL="0" rtl="0" algn="l">
              <a:lnSpc>
                <a:spcPct val="95000"/>
              </a:lnSpc>
              <a:spcBef>
                <a:spcPts val="1200"/>
              </a:spcBef>
              <a:spcAft>
                <a:spcPts val="0"/>
              </a:spcAft>
              <a:buNone/>
            </a:pPr>
            <a:r>
              <a:rPr lang="en" sz="1430">
                <a:solidFill>
                  <a:schemeClr val="dk1"/>
                </a:solidFill>
              </a:rPr>
              <a:t>To reduce settling time, a more powerful steering drive motor was determined to be an effective means of accomplishment.</a:t>
            </a:r>
            <a:endParaRPr sz="1430">
              <a:solidFill>
                <a:schemeClr val="dk1"/>
              </a:solidFill>
            </a:endParaRPr>
          </a:p>
          <a:p>
            <a:pPr indent="-305784" lvl="0" marL="457200" rtl="0" algn="l">
              <a:lnSpc>
                <a:spcPct val="95000"/>
              </a:lnSpc>
              <a:spcBef>
                <a:spcPts val="1200"/>
              </a:spcBef>
              <a:spcAft>
                <a:spcPts val="0"/>
              </a:spcAft>
              <a:buClr>
                <a:schemeClr val="dk1"/>
              </a:buClr>
              <a:buSzPct val="100000"/>
              <a:buChar char="●"/>
            </a:pPr>
            <a:r>
              <a:rPr lang="en" sz="1430">
                <a:solidFill>
                  <a:schemeClr val="dk1"/>
                </a:solidFill>
              </a:rPr>
              <a:t>W</a:t>
            </a:r>
            <a:r>
              <a:rPr lang="en" sz="1430">
                <a:solidFill>
                  <a:schemeClr val="dk1"/>
                </a:solidFill>
              </a:rPr>
              <a:t>ired m</a:t>
            </a:r>
            <a:r>
              <a:rPr lang="en" sz="1430">
                <a:solidFill>
                  <a:schemeClr val="dk1"/>
                </a:solidFill>
              </a:rPr>
              <a:t>otor controllers, DC brushless motor, encoder and CAN </a:t>
            </a:r>
            <a:endParaRPr sz="1430">
              <a:solidFill>
                <a:schemeClr val="dk1"/>
              </a:solidFill>
            </a:endParaRPr>
          </a:p>
          <a:p>
            <a:pPr indent="-305784" lvl="0" marL="457200" rtl="0" algn="l">
              <a:lnSpc>
                <a:spcPct val="95000"/>
              </a:lnSpc>
              <a:spcBef>
                <a:spcPts val="0"/>
              </a:spcBef>
              <a:spcAft>
                <a:spcPts val="0"/>
              </a:spcAft>
              <a:buClr>
                <a:schemeClr val="dk1"/>
              </a:buClr>
              <a:buSzPct val="100000"/>
              <a:buChar char="●"/>
            </a:pPr>
            <a:r>
              <a:rPr lang="en" sz="1430">
                <a:solidFill>
                  <a:schemeClr val="dk1"/>
                </a:solidFill>
              </a:rPr>
              <a:t>Required knowledge of motor physics and control theory</a:t>
            </a:r>
            <a:endParaRPr sz="1430">
              <a:solidFill>
                <a:schemeClr val="dk1"/>
              </a:solidFill>
            </a:endParaRPr>
          </a:p>
          <a:p>
            <a:pPr indent="-305784" lvl="0" marL="457200" rtl="0" algn="l">
              <a:lnSpc>
                <a:spcPct val="95000"/>
              </a:lnSpc>
              <a:spcBef>
                <a:spcPts val="0"/>
              </a:spcBef>
              <a:spcAft>
                <a:spcPts val="0"/>
              </a:spcAft>
              <a:buClr>
                <a:schemeClr val="dk1"/>
              </a:buClr>
              <a:buSzPct val="100000"/>
              <a:buChar char="●"/>
            </a:pPr>
            <a:r>
              <a:rPr lang="en" sz="1430">
                <a:solidFill>
                  <a:schemeClr val="dk1"/>
                </a:solidFill>
              </a:rPr>
              <a:t>Performed required power wiring, networking and the time sync signal for the Ouster Lidar</a:t>
            </a:r>
            <a:endParaRPr sz="1430">
              <a:solidFill>
                <a:schemeClr val="dk1"/>
              </a:solidFill>
            </a:endParaRPr>
          </a:p>
          <a:p>
            <a:pPr indent="-305784" lvl="0" marL="457200" rtl="0" algn="l">
              <a:lnSpc>
                <a:spcPct val="95000"/>
              </a:lnSpc>
              <a:spcBef>
                <a:spcPts val="0"/>
              </a:spcBef>
              <a:spcAft>
                <a:spcPts val="0"/>
              </a:spcAft>
              <a:buClr>
                <a:schemeClr val="dk1"/>
              </a:buClr>
              <a:buSzPct val="100000"/>
              <a:buChar char="●"/>
            </a:pPr>
            <a:r>
              <a:rPr lang="en" sz="1430">
                <a:solidFill>
                  <a:schemeClr val="dk1"/>
                </a:solidFill>
              </a:rPr>
              <a:t>Integrated the wheel speed hall effect sensors with a Teensy 4.1</a:t>
            </a:r>
            <a:endParaRPr sz="1430">
              <a:solidFill>
                <a:schemeClr val="dk1"/>
              </a:solidFill>
            </a:endParaRPr>
          </a:p>
          <a:p>
            <a:pPr indent="0" lvl="0" marL="0" rtl="0" algn="l">
              <a:lnSpc>
                <a:spcPct val="95000"/>
              </a:lnSpc>
              <a:spcBef>
                <a:spcPts val="1200"/>
              </a:spcBef>
              <a:spcAft>
                <a:spcPts val="1200"/>
              </a:spcAft>
              <a:buNone/>
            </a:pPr>
            <a:r>
              <a:t/>
            </a:r>
            <a:endParaRPr sz="143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51562"/>
              <a:buFont typeface="Arial"/>
              <a:buNone/>
            </a:pPr>
            <a:r>
              <a:rPr lang="en" sz="1920"/>
              <a:t>Major Works</a:t>
            </a:r>
            <a:endParaRPr sz="1920"/>
          </a:p>
          <a:p>
            <a:pPr indent="0" lvl="0" marL="0" rtl="0" algn="l">
              <a:spcBef>
                <a:spcPts val="0"/>
              </a:spcBef>
              <a:spcAft>
                <a:spcPts val="0"/>
              </a:spcAft>
              <a:buNone/>
            </a:pPr>
            <a:r>
              <a:t/>
            </a:r>
            <a:endParaRPr/>
          </a:p>
        </p:txBody>
      </p:sp>
      <p:sp>
        <p:nvSpPr>
          <p:cNvPr id="193" name="Google Shape;193;p29"/>
          <p:cNvSpPr txBox="1"/>
          <p:nvPr>
            <p:ph idx="1" type="body"/>
          </p:nvPr>
        </p:nvSpPr>
        <p:spPr>
          <a:xfrm>
            <a:off x="311700" y="2571750"/>
            <a:ext cx="8520600" cy="231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rPr>
              <a:t>Embedded programming tasks (55% of project):</a:t>
            </a:r>
            <a:endParaRPr sz="1300">
              <a:solidFill>
                <a:schemeClr val="dk1"/>
              </a:solidFill>
            </a:endParaRPr>
          </a:p>
          <a:p>
            <a:pPr indent="0" lvl="0" marL="0" rtl="0" algn="l">
              <a:spcBef>
                <a:spcPts val="1200"/>
              </a:spcBef>
              <a:spcAft>
                <a:spcPts val="0"/>
              </a:spcAft>
              <a:buNone/>
            </a:pPr>
            <a:r>
              <a:rPr lang="en" sz="1300">
                <a:solidFill>
                  <a:schemeClr val="dk1"/>
                </a:solidFill>
              </a:rPr>
              <a:t>Requirements for formulating engineering problems for embedded programming include real-time sensor data control, ROS2 for wheel odometry, and Python testing for parameters such as steering motor settling time, which require knowledge of robotics, data analysis, testing, and debugging.</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Read sensor data from a microcontroller and used it in real-time control and decision-making processes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Utilized ROS2 to develop a wheel odometry system which required knowledge of robotic operating systems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Used Python to test and collect data on parameters like the steering motor's settling time requires understanding of data analysis, testing, and debugging methods</a:t>
            </a:r>
            <a:endParaRPr sz="1300">
              <a:solidFill>
                <a:schemeClr val="dk1"/>
              </a:solidFill>
            </a:endParaRPr>
          </a:p>
        </p:txBody>
      </p:sp>
      <p:pic>
        <p:nvPicPr>
          <p:cNvPr id="194" name="Google Shape;194;p29"/>
          <p:cNvPicPr preferRelativeResize="0"/>
          <p:nvPr/>
        </p:nvPicPr>
        <p:blipFill rotWithShape="1">
          <a:blip r:embed="rId3">
            <a:alphaModFix/>
          </a:blip>
          <a:srcRect b="46239" l="0" r="0" t="0"/>
          <a:stretch/>
        </p:blipFill>
        <p:spPr>
          <a:xfrm>
            <a:off x="2106175" y="250450"/>
            <a:ext cx="4931650" cy="2186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Requirements &amp; Specifications</a:t>
            </a:r>
            <a:endParaRPr/>
          </a:p>
          <a:p>
            <a:pPr indent="0" lvl="0" marL="0" rtl="0" algn="l">
              <a:spcBef>
                <a:spcPts val="0"/>
              </a:spcBef>
              <a:spcAft>
                <a:spcPts val="0"/>
              </a:spcAft>
              <a:buNone/>
            </a:pPr>
            <a:r>
              <a:t/>
            </a:r>
            <a:endParaRPr/>
          </a:p>
        </p:txBody>
      </p:sp>
      <p:sp>
        <p:nvSpPr>
          <p:cNvPr id="200" name="Google Shape;20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Functions</a:t>
            </a:r>
            <a:endParaRPr>
              <a:solidFill>
                <a:schemeClr val="dk1"/>
              </a:solidFill>
            </a:endParaRPr>
          </a:p>
          <a:p>
            <a:pPr indent="-316985" lvl="0" marL="457200" rtl="0" algn="l">
              <a:spcBef>
                <a:spcPts val="1200"/>
              </a:spcBef>
              <a:spcAft>
                <a:spcPts val="0"/>
              </a:spcAft>
              <a:buClr>
                <a:schemeClr val="dk1"/>
              </a:buClr>
              <a:buSzPts val="1392"/>
              <a:buChar char="●"/>
            </a:pPr>
            <a:r>
              <a:rPr lang="en" sz="1392">
                <a:solidFill>
                  <a:schemeClr val="dk1"/>
                </a:solidFill>
              </a:rPr>
              <a:t>Enhance kart functionality for better steering accuracy and spatial estimation</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Incorporate several upgrades into the existing system</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Install a higher-resolution LiDAR sensor to provide more detailed and precise data on surrounding objects</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Install a new 3D camera to provide real-time visual data for improved spatial estimation</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Upgrade the steering motor and install a new belt-driven gearbox to reduce settling time and increase accuracy and response time</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Upgrade the odometry system with Hall-effect sensors for real-time wheel speed data and better path estimation</a:t>
            </a:r>
            <a:endParaRPr sz="1392">
              <a:solidFill>
                <a:schemeClr val="dk1"/>
              </a:solidFill>
            </a:endParaRPr>
          </a:p>
          <a:p>
            <a:pPr indent="-316985" lvl="0" marL="457200" rtl="0" algn="l">
              <a:spcBef>
                <a:spcPts val="0"/>
              </a:spcBef>
              <a:spcAft>
                <a:spcPts val="0"/>
              </a:spcAft>
              <a:buClr>
                <a:schemeClr val="dk1"/>
              </a:buClr>
              <a:buSzPts val="1392"/>
              <a:buChar char="●"/>
            </a:pPr>
            <a:r>
              <a:rPr lang="en" sz="1392">
                <a:solidFill>
                  <a:schemeClr val="dk1"/>
                </a:solidFill>
              </a:rPr>
              <a:t>Result in a kart with greater precision, accuracy, and efficiency on the track.</a:t>
            </a:r>
            <a:endParaRPr sz="1392">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Verification Approach/Plan</a:t>
            </a:r>
            <a:endParaRPr/>
          </a:p>
          <a:p>
            <a:pPr indent="0" lvl="0" marL="0" rtl="0" algn="l">
              <a:spcBef>
                <a:spcPts val="0"/>
              </a:spcBef>
              <a:spcAft>
                <a:spcPts val="0"/>
              </a:spcAft>
              <a:buNone/>
            </a:pPr>
            <a:r>
              <a:t/>
            </a:r>
            <a:endParaRPr/>
          </a:p>
        </p:txBody>
      </p:sp>
      <p:graphicFrame>
        <p:nvGraphicFramePr>
          <p:cNvPr id="206" name="Google Shape;206;p31"/>
          <p:cNvGraphicFramePr/>
          <p:nvPr/>
        </p:nvGraphicFramePr>
        <p:xfrm>
          <a:off x="1470950" y="1579925"/>
          <a:ext cx="3000000" cy="3000000"/>
        </p:xfrm>
        <a:graphic>
          <a:graphicData uri="http://schemas.openxmlformats.org/drawingml/2006/table">
            <a:tbl>
              <a:tblPr>
                <a:noFill/>
                <a:tableStyleId>{2509A160-D517-4D50-A620-2DCDBA34E849}</a:tableStyleId>
              </a:tblPr>
              <a:tblGrid>
                <a:gridCol w="1485900"/>
                <a:gridCol w="1485900"/>
                <a:gridCol w="1485900"/>
                <a:gridCol w="1485900"/>
              </a:tblGrid>
              <a:tr h="12700">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Systems</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Analysis </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Simulation</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Testing</a:t>
                      </a:r>
                      <a:endParaRPr sz="1200">
                        <a:solidFill>
                          <a:schemeClr val="dk1"/>
                        </a:solidFill>
                        <a:latin typeface="Calibri"/>
                        <a:ea typeface="Calibri"/>
                        <a:cs typeface="Calibri"/>
                        <a:sym typeface="Calibri"/>
                      </a:endParaRPr>
                    </a:p>
                  </a:txBody>
                  <a:tcPr marT="63500" marB="63500" marR="63500" marL="63500"/>
                </a:tc>
              </a:tr>
              <a:tr h="12700">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Steering System</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r>
              <a:tr h="12700">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Odometry System</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r>
              <a:tr h="12700">
                <a:tc>
                  <a:txBody>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Lidar and Camera System</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t/>
                      </a:r>
                      <a:endParaRPr sz="1200">
                        <a:solidFill>
                          <a:schemeClr val="dk1"/>
                        </a:solidFill>
                        <a:latin typeface="Calibri"/>
                        <a:ea typeface="Calibri"/>
                        <a:cs typeface="Calibri"/>
                        <a:sym typeface="Calibri"/>
                      </a:endParaRPr>
                    </a:p>
                  </a:txBody>
                  <a:tcPr marT="63500" marB="63500" marR="63500" marL="63500"/>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Analysis of Odometry System</a:t>
            </a:r>
            <a:endParaRPr/>
          </a:p>
        </p:txBody>
      </p:sp>
      <p:sp>
        <p:nvSpPr>
          <p:cNvPr id="212" name="Google Shape;21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Wheel Speed Odometry estimate </a:t>
            </a:r>
            <a:r>
              <a:rPr lang="en">
                <a:solidFill>
                  <a:schemeClr val="dk1"/>
                </a:solidFill>
              </a:rPr>
              <a:t>evaluation:</a:t>
            </a:r>
            <a:endParaRPr>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In order to evaluate our odometry estimate created by our wheel speed and angle sensors, we can use our existing on-board inertial navigation system (INS) that currently provides an estimate.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 compared time-synced direct measurements of body frame velocity and GPS-based position to attempt to identify error and noise in the system.</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Significant noise in the wheel speed readings was detected, and this was addressed using kalman filtering and eliminating high-frequency readings (debouncing)</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 speed decay equation was implemented such that if the odometer’s speed is integrated into position, there will be little to no drift.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 designed and implemented a kinematic model of the kart to estimate its position based on the odometers.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output of our kinematic model was compared to hand calculated results to ensure its accuracy.</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of Wheel Speed Sensor</a:t>
            </a:r>
            <a:endParaRPr/>
          </a:p>
        </p:txBody>
      </p:sp>
      <p:sp>
        <p:nvSpPr>
          <p:cNvPr id="218" name="Google Shape;218;p33"/>
          <p:cNvSpPr txBox="1"/>
          <p:nvPr>
            <p:ph idx="1" type="body"/>
          </p:nvPr>
        </p:nvSpPr>
        <p:spPr>
          <a:xfrm>
            <a:off x="311700" y="1152475"/>
            <a:ext cx="447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Wheel Speed Piecewise Verification</a:t>
            </a:r>
            <a:endParaRPr>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Our wheel speed sensor uses a digital signal created by a hall effect sensor and a known tooth count of a wheel speed disk to estimate the angular velocity or RPM of our go-kart wheel.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data was simulated by using another microcontroller to create this PWM like signal at a specific frequency as calculated by an expected RPM, verifying the integrity of the speed estimate.</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pic>
        <p:nvPicPr>
          <p:cNvPr id="219" name="Google Shape;219;p33"/>
          <p:cNvPicPr preferRelativeResize="0"/>
          <p:nvPr/>
        </p:nvPicPr>
        <p:blipFill>
          <a:blip r:embed="rId3">
            <a:alphaModFix/>
          </a:blip>
          <a:stretch>
            <a:fillRect/>
          </a:stretch>
        </p:blipFill>
        <p:spPr>
          <a:xfrm>
            <a:off x="4787700" y="1267450"/>
            <a:ext cx="4133325" cy="3416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Test results of Odometry System</a:t>
            </a:r>
            <a:endParaRPr/>
          </a:p>
        </p:txBody>
      </p:sp>
      <p:sp>
        <p:nvSpPr>
          <p:cNvPr id="225" name="Google Shape;225;p34"/>
          <p:cNvSpPr txBox="1"/>
          <p:nvPr>
            <p:ph idx="1" type="body"/>
          </p:nvPr>
        </p:nvSpPr>
        <p:spPr>
          <a:xfrm>
            <a:off x="311700" y="1152475"/>
            <a:ext cx="445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Wheel Speed Odometry Integration Test</a:t>
            </a:r>
            <a:endParaRPr>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Debugged ROS 2 code deployment within Voltron’s system environment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Verified using actual data recorded from the installed odometers on one of Voltron’s road tests that the odometry system is able to deliver usable results with reasonable accuracy over a short time horizon, with a publication rate of 100Hz</a:t>
            </a:r>
            <a:endParaRPr sz="1100">
              <a:solidFill>
                <a:schemeClr val="dk1"/>
              </a:solidFill>
            </a:endParaRPr>
          </a:p>
        </p:txBody>
      </p:sp>
      <p:pic>
        <p:nvPicPr>
          <p:cNvPr id="226" name="Google Shape;226;p34"/>
          <p:cNvPicPr preferRelativeResize="0"/>
          <p:nvPr/>
        </p:nvPicPr>
        <p:blipFill>
          <a:blip r:embed="rId3">
            <a:alphaModFix/>
          </a:blip>
          <a:stretch>
            <a:fillRect/>
          </a:stretch>
        </p:blipFill>
        <p:spPr>
          <a:xfrm>
            <a:off x="4966050" y="1189075"/>
            <a:ext cx="3816225" cy="2620175"/>
          </a:xfrm>
          <a:prstGeom prst="rect">
            <a:avLst/>
          </a:prstGeom>
          <a:noFill/>
          <a:ln>
            <a:noFill/>
          </a:ln>
        </p:spPr>
      </p:pic>
      <p:pic>
        <p:nvPicPr>
          <p:cNvPr id="227" name="Google Shape;227;p34"/>
          <p:cNvPicPr preferRelativeResize="0"/>
          <p:nvPr/>
        </p:nvPicPr>
        <p:blipFill>
          <a:blip r:embed="rId4">
            <a:alphaModFix/>
          </a:blip>
          <a:stretch>
            <a:fillRect/>
          </a:stretch>
        </p:blipFill>
        <p:spPr>
          <a:xfrm>
            <a:off x="983500" y="3927300"/>
            <a:ext cx="6351300" cy="759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highlight>
                  <a:schemeClr val="lt1"/>
                </a:highlight>
              </a:rPr>
              <a:t>Test of Lidar and Camera Cage</a:t>
            </a:r>
            <a:endParaRPr>
              <a:highlight>
                <a:schemeClr val="lt1"/>
              </a:highlight>
            </a:endParaRPr>
          </a:p>
        </p:txBody>
      </p:sp>
      <p:sp>
        <p:nvSpPr>
          <p:cNvPr id="233" name="Google Shape;233;p35"/>
          <p:cNvSpPr txBox="1"/>
          <p:nvPr>
            <p:ph idx="1" type="body"/>
          </p:nvPr>
        </p:nvSpPr>
        <p:spPr>
          <a:xfrm>
            <a:off x="311700" y="1152475"/>
            <a:ext cx="350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To ensure </a:t>
            </a:r>
            <a:r>
              <a:rPr lang="en">
                <a:solidFill>
                  <a:schemeClr val="dk1"/>
                </a:solidFill>
              </a:rPr>
              <a:t>structural</a:t>
            </a:r>
            <a:r>
              <a:rPr lang="en">
                <a:solidFill>
                  <a:schemeClr val="dk1"/>
                </a:solidFill>
              </a:rPr>
              <a:t> integrity of cage, we will conduct lateral load testing on the upper level of the cage while holding the lower level stationary and measure the amount of deflection at 10 lbs of force.</a:t>
            </a:r>
            <a:endParaRPr>
              <a:solidFill>
                <a:schemeClr val="dk1"/>
              </a:solidFill>
            </a:endParaRPr>
          </a:p>
        </p:txBody>
      </p:sp>
      <p:pic>
        <p:nvPicPr>
          <p:cNvPr id="234" name="Google Shape;234;p35"/>
          <p:cNvPicPr preferRelativeResize="0"/>
          <p:nvPr/>
        </p:nvPicPr>
        <p:blipFill>
          <a:blip r:embed="rId3">
            <a:alphaModFix/>
          </a:blip>
          <a:stretch>
            <a:fillRect/>
          </a:stretch>
        </p:blipFill>
        <p:spPr>
          <a:xfrm>
            <a:off x="3985675" y="1017725"/>
            <a:ext cx="4378581" cy="382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highlight>
                  <a:schemeClr val="lt1"/>
                </a:highlight>
              </a:rPr>
              <a:t>Test Results of Lidar and Camera Cage</a:t>
            </a:r>
            <a:endParaRPr>
              <a:highlight>
                <a:schemeClr val="lt1"/>
              </a:highlight>
            </a:endParaRPr>
          </a:p>
        </p:txBody>
      </p:sp>
      <p:sp>
        <p:nvSpPr>
          <p:cNvPr id="240" name="Google Shape;240;p36"/>
          <p:cNvSpPr txBox="1"/>
          <p:nvPr>
            <p:ph idx="1" type="body"/>
          </p:nvPr>
        </p:nvSpPr>
        <p:spPr>
          <a:xfrm>
            <a:off x="311700" y="1152475"/>
            <a:ext cx="35004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chemeClr val="dk1"/>
                </a:solidFill>
              </a:rPr>
              <a:t>With the base secured to a test bench, a lateral load was applied to the upper plate. The force was measured using a force meter and the deflection was measured by having a </a:t>
            </a:r>
            <a:r>
              <a:rPr lang="en">
                <a:solidFill>
                  <a:schemeClr val="dk1"/>
                </a:solidFill>
              </a:rPr>
              <a:t>straight-edged tool against the upper plate and seeing the difference in spacing after the force was applied. Deflection was approximately 2 mm during testing and no permanent deformation was present after testing.</a:t>
            </a:r>
            <a:endParaRPr>
              <a:solidFill>
                <a:schemeClr val="dk1"/>
              </a:solidFill>
            </a:endParaRPr>
          </a:p>
          <a:p>
            <a:pPr indent="0" lvl="0" marL="0" rtl="0" algn="l">
              <a:spcBef>
                <a:spcPts val="1200"/>
              </a:spcBef>
              <a:spcAft>
                <a:spcPts val="0"/>
              </a:spcAft>
              <a:buNone/>
            </a:pPr>
            <a:r>
              <a:rPr lang="en" u="sng">
                <a:solidFill>
                  <a:schemeClr val="hlink"/>
                </a:solidFill>
                <a:hlinkClick r:id="rId3"/>
              </a:rPr>
              <a:t>https://drive.google.com/file/d/1p4MHw2Wgh1e1pCxiqEvOhBFeNPz0Vj2E/view?usp=sharing</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41" name="Google Shape;241;p36"/>
          <p:cNvPicPr preferRelativeResize="0"/>
          <p:nvPr/>
        </p:nvPicPr>
        <p:blipFill>
          <a:blip r:embed="rId4">
            <a:alphaModFix/>
          </a:blip>
          <a:stretch>
            <a:fillRect/>
          </a:stretch>
        </p:blipFill>
        <p:spPr>
          <a:xfrm>
            <a:off x="4864075" y="1226575"/>
            <a:ext cx="2567524" cy="3690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Analysis</a:t>
            </a:r>
            <a:r>
              <a:rPr lang="en"/>
              <a:t> and Construction of Steering System</a:t>
            </a:r>
            <a:endParaRPr/>
          </a:p>
        </p:txBody>
      </p:sp>
      <p:sp>
        <p:nvSpPr>
          <p:cNvPr id="247" name="Google Shape;247;p3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Determined requirements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Identified motor with highest low-speed power</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Created a design that focused on reliability and repairability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Selected the gear ratio which would approximately keep the motor at the peak power output assuming a 200ms actuation time</a:t>
            </a:r>
            <a:endParaRPr>
              <a:solidFill>
                <a:schemeClr val="dk1"/>
              </a:solidFill>
            </a:endParaRPr>
          </a:p>
        </p:txBody>
      </p:sp>
      <p:pic>
        <p:nvPicPr>
          <p:cNvPr id="248" name="Google Shape;248;p37"/>
          <p:cNvPicPr preferRelativeResize="0"/>
          <p:nvPr/>
        </p:nvPicPr>
        <p:blipFill>
          <a:blip r:embed="rId3">
            <a:alphaModFix/>
          </a:blip>
          <a:stretch>
            <a:fillRect/>
          </a:stretch>
        </p:blipFill>
        <p:spPr>
          <a:xfrm>
            <a:off x="4970650" y="1716121"/>
            <a:ext cx="4069150" cy="22891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results of Steering System</a:t>
            </a:r>
            <a:endParaRPr/>
          </a:p>
        </p:txBody>
      </p:sp>
      <p:sp>
        <p:nvSpPr>
          <p:cNvPr id="254" name="Google Shape;254;p38"/>
          <p:cNvSpPr txBox="1"/>
          <p:nvPr>
            <p:ph idx="1" type="body"/>
          </p:nvPr>
        </p:nvSpPr>
        <p:spPr>
          <a:xfrm>
            <a:off x="311700" y="1381600"/>
            <a:ext cx="4169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rPr>
              <a:t>Settling time of steering system via python Script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Settling time of original steering system: 1.1867s, determined via python script.</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New steering system needed to achieve settling time of 0.949s or faster for 20% improvement.</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Same testing conditions used for new system tests, performed multiple times for accuracy and repeatability.</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New system achieved average settling time of 0.16575s, exceeding the 20% improvement goal with over 85% improvement.</a:t>
            </a:r>
            <a:endParaRPr sz="1300">
              <a:solidFill>
                <a:schemeClr val="dk1"/>
              </a:solidFill>
            </a:endParaRPr>
          </a:p>
        </p:txBody>
      </p:sp>
      <p:pic>
        <p:nvPicPr>
          <p:cNvPr id="255" name="Google Shape;255;p38"/>
          <p:cNvPicPr preferRelativeResize="0"/>
          <p:nvPr/>
        </p:nvPicPr>
        <p:blipFill>
          <a:blip r:embed="rId3">
            <a:alphaModFix/>
          </a:blip>
          <a:stretch>
            <a:fillRect/>
          </a:stretch>
        </p:blipFill>
        <p:spPr>
          <a:xfrm>
            <a:off x="4481100" y="1381600"/>
            <a:ext cx="4358100" cy="243489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chemeClr val="lt1"/>
                </a:highlight>
              </a:rPr>
              <a:t>Test results of Steering System Cont.</a:t>
            </a:r>
            <a:endParaRPr>
              <a:highlight>
                <a:schemeClr val="lt1"/>
              </a:highlight>
            </a:endParaRPr>
          </a:p>
        </p:txBody>
      </p:sp>
      <p:sp>
        <p:nvSpPr>
          <p:cNvPr id="261" name="Google Shape;261;p39"/>
          <p:cNvSpPr txBox="1"/>
          <p:nvPr>
            <p:ph idx="1" type="body"/>
          </p:nvPr>
        </p:nvSpPr>
        <p:spPr>
          <a:xfrm>
            <a:off x="311700" y="1017725"/>
            <a:ext cx="4071900" cy="4051500"/>
          </a:xfrm>
          <a:prstGeom prst="rect">
            <a:avLst/>
          </a:prstGeom>
        </p:spPr>
        <p:txBody>
          <a:bodyPr anchorCtr="0" anchor="t" bIns="91425" lIns="91425" spcFirstLastPara="1" rIns="91425" wrap="square" tIns="91425">
            <a:normAutofit lnSpcReduction="10000"/>
          </a:bodyPr>
          <a:lstStyle/>
          <a:p>
            <a:pPr indent="-317500" lvl="0" marL="457200" rtl="0" algn="l">
              <a:lnSpc>
                <a:spcPct val="87916"/>
              </a:lnSpc>
              <a:spcBef>
                <a:spcPts val="0"/>
              </a:spcBef>
              <a:spcAft>
                <a:spcPts val="0"/>
              </a:spcAft>
              <a:buClr>
                <a:schemeClr val="dk1"/>
              </a:buClr>
              <a:buSzPts val="1400"/>
              <a:buChar char="●"/>
            </a:pPr>
            <a:r>
              <a:rPr lang="en" sz="1400">
                <a:solidFill>
                  <a:schemeClr val="dk1"/>
                </a:solidFill>
              </a:rPr>
              <a:t>The original gearbox had an initial starting position of .3 degrees above horizontal and was able to be rotated to 4.8 degrees above horizontal. This indicated 4.5 degrees of uncontrolled displacement in the gearbox. </a:t>
            </a:r>
            <a:endParaRPr sz="1400">
              <a:solidFill>
                <a:schemeClr val="dk1"/>
              </a:solidFill>
            </a:endParaRPr>
          </a:p>
          <a:p>
            <a:pPr indent="0" lvl="0" marL="457200" rtl="0" algn="l">
              <a:lnSpc>
                <a:spcPct val="87916"/>
              </a:lnSpc>
              <a:spcBef>
                <a:spcPts val="800"/>
              </a:spcBef>
              <a:spcAft>
                <a:spcPts val="0"/>
              </a:spcAft>
              <a:buNone/>
            </a:pPr>
            <a:r>
              <a:t/>
            </a:r>
            <a:endParaRPr sz="1400">
              <a:solidFill>
                <a:schemeClr val="dk1"/>
              </a:solidFill>
            </a:endParaRPr>
          </a:p>
          <a:p>
            <a:pPr indent="-317500" lvl="0" marL="457200" rtl="0" algn="l">
              <a:lnSpc>
                <a:spcPct val="87916"/>
              </a:lnSpc>
              <a:spcBef>
                <a:spcPts val="800"/>
              </a:spcBef>
              <a:spcAft>
                <a:spcPts val="0"/>
              </a:spcAft>
              <a:buClr>
                <a:schemeClr val="dk1"/>
              </a:buClr>
              <a:buSzPts val="1400"/>
              <a:buChar char="●"/>
            </a:pPr>
            <a:r>
              <a:rPr lang="en" sz="1400">
                <a:solidFill>
                  <a:schemeClr val="dk1"/>
                </a:solidFill>
              </a:rPr>
              <a:t>The new gearbox had a starting position of .7 degrees above horizontal and was able to be rotated to 2.8 degrees before stopping. This results in 2.1 degrees of unwanted displacement.</a:t>
            </a:r>
            <a:endParaRPr sz="1400">
              <a:solidFill>
                <a:schemeClr val="dk1"/>
              </a:solidFill>
            </a:endParaRPr>
          </a:p>
          <a:p>
            <a:pPr indent="0" lvl="0" marL="457200" rtl="0" algn="l">
              <a:lnSpc>
                <a:spcPct val="87916"/>
              </a:lnSpc>
              <a:spcBef>
                <a:spcPts val="800"/>
              </a:spcBef>
              <a:spcAft>
                <a:spcPts val="0"/>
              </a:spcAft>
              <a:buNone/>
            </a:pPr>
            <a:r>
              <a:rPr lang="en" sz="1400">
                <a:solidFill>
                  <a:schemeClr val="dk1"/>
                </a:solidFill>
              </a:rPr>
              <a:t> </a:t>
            </a:r>
            <a:endParaRPr sz="1400">
              <a:solidFill>
                <a:schemeClr val="dk1"/>
              </a:solidFill>
            </a:endParaRPr>
          </a:p>
          <a:p>
            <a:pPr indent="-317500" lvl="0" marL="457200" rtl="0" algn="l">
              <a:lnSpc>
                <a:spcPct val="87916"/>
              </a:lnSpc>
              <a:spcBef>
                <a:spcPts val="800"/>
              </a:spcBef>
              <a:spcAft>
                <a:spcPts val="0"/>
              </a:spcAft>
              <a:buClr>
                <a:schemeClr val="dk1"/>
              </a:buClr>
              <a:buSzPts val="1400"/>
              <a:buChar char="●"/>
            </a:pPr>
            <a:r>
              <a:rPr lang="en" sz="1400">
                <a:solidFill>
                  <a:schemeClr val="dk1"/>
                </a:solidFill>
              </a:rPr>
              <a:t>Testing showed a 53.6% reduction in movement of the new locked output shaft.</a:t>
            </a:r>
            <a:endParaRPr sz="1400">
              <a:solidFill>
                <a:schemeClr val="dk1"/>
              </a:solidFill>
            </a:endParaRPr>
          </a:p>
          <a:p>
            <a:pPr indent="0" lvl="0" marL="457200" rtl="0" algn="l">
              <a:lnSpc>
                <a:spcPct val="87916"/>
              </a:lnSpc>
              <a:spcBef>
                <a:spcPts val="800"/>
              </a:spcBef>
              <a:spcAft>
                <a:spcPts val="0"/>
              </a:spcAft>
              <a:buNone/>
            </a:pPr>
            <a:r>
              <a:rPr lang="en" sz="1400" u="sng">
                <a:solidFill>
                  <a:schemeClr val="hlink"/>
                </a:solidFill>
                <a:hlinkClick r:id="rId3"/>
              </a:rPr>
              <a:t>https://drive.google.com/file/d/1RiRdRGRTWo4sEsLlVIs6GEMBHdwWpKj1/view?usp=sharing</a:t>
            </a:r>
            <a:endParaRPr sz="1400">
              <a:solidFill>
                <a:schemeClr val="dk1"/>
              </a:solidFill>
            </a:endParaRPr>
          </a:p>
          <a:p>
            <a:pPr indent="0" lvl="0" marL="457200" rtl="0" algn="l">
              <a:lnSpc>
                <a:spcPct val="87916"/>
              </a:lnSpc>
              <a:spcBef>
                <a:spcPts val="800"/>
              </a:spcBef>
              <a:spcAft>
                <a:spcPts val="800"/>
              </a:spcAft>
              <a:buNone/>
            </a:pPr>
            <a:r>
              <a:t/>
            </a:r>
            <a:endParaRPr sz="1400">
              <a:solidFill>
                <a:schemeClr val="dk1"/>
              </a:solidFill>
            </a:endParaRPr>
          </a:p>
        </p:txBody>
      </p:sp>
      <p:pic>
        <p:nvPicPr>
          <p:cNvPr id="262" name="Google Shape;262;p39"/>
          <p:cNvPicPr preferRelativeResize="0"/>
          <p:nvPr/>
        </p:nvPicPr>
        <p:blipFill>
          <a:blip r:embed="rId4">
            <a:alphaModFix/>
          </a:blip>
          <a:stretch>
            <a:fillRect/>
          </a:stretch>
        </p:blipFill>
        <p:spPr>
          <a:xfrm>
            <a:off x="5748450" y="965775"/>
            <a:ext cx="2671099" cy="1922650"/>
          </a:xfrm>
          <a:prstGeom prst="rect">
            <a:avLst/>
          </a:prstGeom>
          <a:noFill/>
          <a:ln>
            <a:noFill/>
          </a:ln>
        </p:spPr>
      </p:pic>
      <p:pic>
        <p:nvPicPr>
          <p:cNvPr id="263" name="Google Shape;263;p39"/>
          <p:cNvPicPr preferRelativeResize="0"/>
          <p:nvPr/>
        </p:nvPicPr>
        <p:blipFill>
          <a:blip r:embed="rId5">
            <a:alphaModFix/>
          </a:blip>
          <a:stretch>
            <a:fillRect/>
          </a:stretch>
        </p:blipFill>
        <p:spPr>
          <a:xfrm>
            <a:off x="5748453" y="2982001"/>
            <a:ext cx="2671100" cy="207626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311700" y="241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44"/>
              <a:t>Trade Study- Steering motor </a:t>
            </a:r>
            <a:r>
              <a:rPr lang="en"/>
              <a:t>                      </a:t>
            </a:r>
            <a:endParaRPr/>
          </a:p>
        </p:txBody>
      </p:sp>
      <p:graphicFrame>
        <p:nvGraphicFramePr>
          <p:cNvPr id="269" name="Google Shape;269;p40"/>
          <p:cNvGraphicFramePr/>
          <p:nvPr/>
        </p:nvGraphicFramePr>
        <p:xfrm>
          <a:off x="2487213" y="813688"/>
          <a:ext cx="3000000" cy="3000000"/>
        </p:xfrm>
        <a:graphic>
          <a:graphicData uri="http://schemas.openxmlformats.org/drawingml/2006/table">
            <a:tbl>
              <a:tblPr>
                <a:noFill/>
                <a:tableStyleId>{2509A160-D517-4D50-A620-2DCDBA34E849}</a:tableStyleId>
              </a:tblPr>
              <a:tblGrid>
                <a:gridCol w="1389850"/>
                <a:gridCol w="1389850"/>
                <a:gridCol w="1389850"/>
              </a:tblGrid>
              <a:tr h="1095725">
                <a:tc>
                  <a:txBody>
                    <a:bodyPr/>
                    <a:lstStyle/>
                    <a:p>
                      <a:pPr indent="0" lvl="0" marL="0" rtl="0" algn="ctr">
                        <a:lnSpc>
                          <a:spcPct val="171429"/>
                        </a:lnSpc>
                        <a:spcBef>
                          <a:spcPts val="0"/>
                        </a:spcBef>
                        <a:spcAft>
                          <a:spcPts val="1900"/>
                        </a:spcAft>
                        <a:buNone/>
                      </a:pPr>
                      <a:r>
                        <a:rPr b="1" lang="en" sz="1000">
                          <a:solidFill>
                            <a:schemeClr val="dk1"/>
                          </a:solidFill>
                          <a:latin typeface="Calibri"/>
                          <a:ea typeface="Calibri"/>
                          <a:cs typeface="Calibri"/>
                          <a:sym typeface="Calibri"/>
                        </a:rPr>
                        <a:t>Motor Characteristics</a:t>
                      </a:r>
                      <a:endParaRPr sz="10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71429"/>
                        </a:lnSpc>
                        <a:spcBef>
                          <a:spcPts val="0"/>
                        </a:spcBef>
                        <a:spcAft>
                          <a:spcPts val="1900"/>
                        </a:spcAft>
                        <a:buNone/>
                      </a:pPr>
                      <a:r>
                        <a:rPr b="1" lang="en" sz="1000">
                          <a:solidFill>
                            <a:schemeClr val="dk1"/>
                          </a:solidFill>
                          <a:latin typeface="Calibri"/>
                          <a:ea typeface="Calibri"/>
                          <a:cs typeface="Calibri"/>
                          <a:sym typeface="Calibri"/>
                        </a:rPr>
                        <a:t>Odrive DUAL SHAFT MOTOR - D6374 150KV</a:t>
                      </a:r>
                      <a:endParaRPr sz="10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71429"/>
                        </a:lnSpc>
                        <a:spcBef>
                          <a:spcPts val="0"/>
                        </a:spcBef>
                        <a:spcAft>
                          <a:spcPts val="1900"/>
                        </a:spcAft>
                        <a:buNone/>
                      </a:pPr>
                      <a:r>
                        <a:rPr b="1" lang="en" sz="1000">
                          <a:solidFill>
                            <a:schemeClr val="dk1"/>
                          </a:solidFill>
                          <a:latin typeface="Calibri"/>
                          <a:ea typeface="Calibri"/>
                          <a:cs typeface="Calibri"/>
                          <a:sym typeface="Calibri"/>
                        </a:rPr>
                        <a:t>NEO Brushless Motor V1.1</a:t>
                      </a:r>
                      <a:endParaRPr sz="10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9150">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Rated Voltage</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8-50 VDC</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6-12S LiPo</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9150">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Rated Power</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3600 W</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1900 W</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9150">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Maximum Torque</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5 Nm</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2.6 Nm</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9150">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Maximum Speed</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10000 RPM</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10000 RPM</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9150">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Price</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$119.00</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en" sz="1000">
                          <a:solidFill>
                            <a:schemeClr val="dk1"/>
                          </a:solidFill>
                          <a:latin typeface="Calibri"/>
                          <a:ea typeface="Calibri"/>
                          <a:cs typeface="Calibri"/>
                          <a:sym typeface="Calibri"/>
                        </a:rPr>
                        <a:t>$48.00</a:t>
                      </a:r>
                      <a:endParaRPr sz="10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type="title"/>
          </p:nvPr>
        </p:nvSpPr>
        <p:spPr>
          <a:xfrm>
            <a:off x="311700" y="287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920"/>
              <a:t>Trade Study-Microcontroller</a:t>
            </a:r>
            <a:endParaRPr sz="1920"/>
          </a:p>
        </p:txBody>
      </p:sp>
      <p:graphicFrame>
        <p:nvGraphicFramePr>
          <p:cNvPr id="275" name="Google Shape;275;p41"/>
          <p:cNvGraphicFramePr/>
          <p:nvPr/>
        </p:nvGraphicFramePr>
        <p:xfrm>
          <a:off x="2347025" y="684350"/>
          <a:ext cx="3000000" cy="3000000"/>
        </p:xfrm>
        <a:graphic>
          <a:graphicData uri="http://schemas.openxmlformats.org/drawingml/2006/table">
            <a:tbl>
              <a:tblPr>
                <a:noFill/>
                <a:tableStyleId>{2509A160-D517-4D50-A620-2DCDBA34E849}</a:tableStyleId>
              </a:tblPr>
              <a:tblGrid>
                <a:gridCol w="1134475"/>
                <a:gridCol w="1134475"/>
                <a:gridCol w="1134475"/>
                <a:gridCol w="1134475"/>
              </a:tblGrid>
              <a:tr h="786625">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Microcontroller Characteristics</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Arduino Nano</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Raspberry Pico</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Teensy 4.1</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7866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Microcontroller Model</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ATmega328P</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RP2040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MK64FX512</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378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Clock Speed</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16 MHz</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133 MHz</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600 MHz</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378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RAM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2 KB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264 KB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1 MB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378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Flash Memory</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32 KB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2 MB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8 MB</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378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GPIO Pins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22</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26</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37</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378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Price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$16.00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$7.00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$31.50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2"/>
          <p:cNvSpPr txBox="1"/>
          <p:nvPr>
            <p:ph type="title"/>
          </p:nvPr>
        </p:nvSpPr>
        <p:spPr>
          <a:xfrm>
            <a:off x="216425" y="106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51562"/>
              <a:buFont typeface="Arial"/>
              <a:buNone/>
            </a:pPr>
            <a:r>
              <a:rPr lang="en" sz="1920"/>
              <a:t>Trade Study-Wheel Speed Sensors</a:t>
            </a:r>
            <a:endParaRPr/>
          </a:p>
        </p:txBody>
      </p:sp>
      <p:graphicFrame>
        <p:nvGraphicFramePr>
          <p:cNvPr id="281" name="Google Shape;281;p42"/>
          <p:cNvGraphicFramePr/>
          <p:nvPr/>
        </p:nvGraphicFramePr>
        <p:xfrm>
          <a:off x="1979950" y="471600"/>
          <a:ext cx="3000000" cy="3000000"/>
        </p:xfrm>
        <a:graphic>
          <a:graphicData uri="http://schemas.openxmlformats.org/drawingml/2006/table">
            <a:tbl>
              <a:tblPr>
                <a:noFill/>
                <a:tableStyleId>{2509A160-D517-4D50-A620-2DCDBA34E849}</a:tableStyleId>
              </a:tblPr>
              <a:tblGrid>
                <a:gridCol w="1296025"/>
                <a:gridCol w="1296025"/>
                <a:gridCol w="1296025"/>
                <a:gridCol w="1296025"/>
              </a:tblGrid>
              <a:tr h="669425">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Wheel Sensor Characteristics</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Littelfuse M12 Gear Tooth Speed Sensor</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Cherry Electrical Sensors CRG Series</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0"/>
                        </a:spcBef>
                        <a:spcAft>
                          <a:spcPts val="1900"/>
                        </a:spcAft>
                        <a:buNone/>
                      </a:pPr>
                      <a:r>
                        <a:rPr b="1" lang="en" sz="1200">
                          <a:solidFill>
                            <a:schemeClr val="dk1"/>
                          </a:solidFill>
                          <a:latin typeface="Calibri"/>
                          <a:ea typeface="Calibri"/>
                          <a:cs typeface="Calibri"/>
                          <a:sym typeface="Calibri"/>
                        </a:rPr>
                        <a:t>Sensata Technologies KAV</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04950">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Type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Gear tooth sensor</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Magnetic sensor</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Gear tooth sensor</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6694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Operating Voltage Range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4.5V to 24V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4.5V to 24V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4.5V to 24V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04950">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Output Signal</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Digital</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Digital</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Digital</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669425">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Maximum Speed Detection</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Up to 20,000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Up to 20,000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Up to 30,000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04950">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Supply Current</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5mA to 20mA</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5mA to 15mA</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5mA to 20mA</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04950">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Price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$42.80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$34.50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0"/>
                        </a:spcBef>
                        <a:spcAft>
                          <a:spcPts val="1900"/>
                        </a:spcAft>
                        <a:buNone/>
                      </a:pPr>
                      <a:r>
                        <a:rPr lang="en" sz="1200">
                          <a:solidFill>
                            <a:schemeClr val="dk1"/>
                          </a:solidFill>
                          <a:latin typeface="Calibri"/>
                          <a:ea typeface="Calibri"/>
                          <a:cs typeface="Calibri"/>
                          <a:sym typeface="Calibri"/>
                        </a:rPr>
                        <a:t>$37.85</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311700" y="194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20"/>
              <a:t>Trade Study-Motor Controllers</a:t>
            </a:r>
            <a:endParaRPr/>
          </a:p>
        </p:txBody>
      </p:sp>
      <p:graphicFrame>
        <p:nvGraphicFramePr>
          <p:cNvPr id="287" name="Google Shape;287;p43"/>
          <p:cNvGraphicFramePr/>
          <p:nvPr/>
        </p:nvGraphicFramePr>
        <p:xfrm>
          <a:off x="0" y="572675"/>
          <a:ext cx="3000000" cy="3000000"/>
        </p:xfrm>
        <a:graphic>
          <a:graphicData uri="http://schemas.openxmlformats.org/drawingml/2006/table">
            <a:tbl>
              <a:tblPr>
                <a:noFill/>
                <a:tableStyleId>{2509A160-D517-4D50-A620-2DCDBA34E849}</a:tableStyleId>
              </a:tblPr>
              <a:tblGrid>
                <a:gridCol w="2286000"/>
                <a:gridCol w="2286000"/>
                <a:gridCol w="2286000"/>
                <a:gridCol w="2286000"/>
              </a:tblGrid>
              <a:tr h="725925">
                <a:tc>
                  <a:txBody>
                    <a:bodyPr/>
                    <a:lstStyle/>
                    <a:p>
                      <a:pPr indent="0" lvl="0" marL="0" rtl="0" algn="ctr">
                        <a:lnSpc>
                          <a:spcPct val="100000"/>
                        </a:lnSpc>
                        <a:spcBef>
                          <a:spcPts val="1900"/>
                        </a:spcBef>
                        <a:spcAft>
                          <a:spcPts val="1900"/>
                        </a:spcAft>
                        <a:buNone/>
                      </a:pPr>
                      <a:r>
                        <a:rPr b="1" lang="en" sz="1100">
                          <a:solidFill>
                            <a:schemeClr val="dk1"/>
                          </a:solidFill>
                          <a:latin typeface="Calibri"/>
                          <a:ea typeface="Calibri"/>
                          <a:cs typeface="Calibri"/>
                          <a:sym typeface="Calibri"/>
                        </a:rPr>
                        <a:t>Motor Controller</a:t>
                      </a:r>
                      <a:endParaRPr sz="11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100">
                          <a:solidFill>
                            <a:schemeClr val="dk1"/>
                          </a:solidFill>
                          <a:latin typeface="Calibri"/>
                          <a:ea typeface="Calibri"/>
                          <a:cs typeface="Calibri"/>
                          <a:sym typeface="Calibri"/>
                        </a:rPr>
                        <a:t>ODrive Pro</a:t>
                      </a:r>
                      <a:endParaRPr sz="11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100">
                          <a:solidFill>
                            <a:schemeClr val="dk1"/>
                          </a:solidFill>
                          <a:latin typeface="Calibri"/>
                          <a:ea typeface="Calibri"/>
                          <a:cs typeface="Calibri"/>
                          <a:sym typeface="Calibri"/>
                        </a:rPr>
                        <a:t>Roboteq</a:t>
                      </a:r>
                      <a:endParaRPr sz="11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100">
                          <a:solidFill>
                            <a:schemeClr val="dk1"/>
                          </a:solidFill>
                          <a:latin typeface="Calibri"/>
                          <a:ea typeface="Calibri"/>
                          <a:cs typeface="Calibri"/>
                          <a:sym typeface="Calibri"/>
                        </a:rPr>
                        <a:t>Phidgets</a:t>
                      </a:r>
                      <a:endParaRPr sz="11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725925">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Motor Types</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BLDC, PMSM, DC</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DC, BLDC, Stepper</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DC, Stepper, Servo</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725925">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Maximum Voltage</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58V</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60V</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24V</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725925">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Maximum Current</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120A</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150A</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20A</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886600">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Advanced Features</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Closed-loop control, Regenerative braking, Sensorless control</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Regenerative braking, Analog and Digital I/Os, CANopen support</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PID control, Closed-loop control, Position control</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725925">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Price</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$229.00</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$345.00</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100">
                          <a:solidFill>
                            <a:schemeClr val="dk1"/>
                          </a:solidFill>
                          <a:latin typeface="Calibri"/>
                          <a:ea typeface="Calibri"/>
                          <a:cs typeface="Calibri"/>
                          <a:sym typeface="Calibri"/>
                        </a:rPr>
                        <a:t>$75.00</a:t>
                      </a:r>
                      <a:endParaRPr sz="11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4"/>
          <p:cNvSpPr txBox="1"/>
          <p:nvPr>
            <p:ph type="title"/>
          </p:nvPr>
        </p:nvSpPr>
        <p:spPr>
          <a:xfrm>
            <a:off x="311700" y="129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20"/>
              <a:t>Trade Study-Lidar Sensors</a:t>
            </a:r>
            <a:endParaRPr/>
          </a:p>
        </p:txBody>
      </p:sp>
      <p:graphicFrame>
        <p:nvGraphicFramePr>
          <p:cNvPr id="293" name="Google Shape;293;p44"/>
          <p:cNvGraphicFramePr/>
          <p:nvPr/>
        </p:nvGraphicFramePr>
        <p:xfrm>
          <a:off x="1376775" y="547900"/>
          <a:ext cx="3000000" cy="3000000"/>
        </p:xfrm>
        <a:graphic>
          <a:graphicData uri="http://schemas.openxmlformats.org/drawingml/2006/table">
            <a:tbl>
              <a:tblPr>
                <a:noFill/>
                <a:tableStyleId>{2509A160-D517-4D50-A620-2DCDBA34E849}</a:tableStyleId>
              </a:tblPr>
              <a:tblGrid>
                <a:gridCol w="2130150"/>
                <a:gridCol w="2130150"/>
                <a:gridCol w="2130150"/>
              </a:tblGrid>
              <a:tr h="566000">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Characteristic</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Ouster OS-0 64</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Velodyne VLP-16</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6000">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Price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$4,500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$8,000-$10,000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6000">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Vertical Resolution</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64 channels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spcBef>
                          <a:spcPts val="1900"/>
                        </a:spcBef>
                        <a:spcAft>
                          <a:spcPts val="1900"/>
                        </a:spcAft>
                        <a:buNone/>
                      </a:pPr>
                      <a:r>
                        <a:rPr lang="en" sz="1200">
                          <a:solidFill>
                            <a:schemeClr val="dk1"/>
                          </a:solidFill>
                          <a:latin typeface="Calibri"/>
                          <a:ea typeface="Calibri"/>
                          <a:cs typeface="Calibri"/>
                          <a:sym typeface="Calibri"/>
                        </a:rPr>
                        <a:t>16</a:t>
                      </a:r>
                      <a:r>
                        <a:rPr lang="en" sz="1200">
                          <a:solidFill>
                            <a:schemeClr val="dk1"/>
                          </a:solidFill>
                          <a:latin typeface="Calibri"/>
                          <a:ea typeface="Calibri"/>
                          <a:cs typeface="Calibri"/>
                          <a:sym typeface="Calibri"/>
                        </a:rPr>
                        <a:t> channels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6000">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Range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Up to 120 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Up to 100 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6000">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Accuracy</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&lt;1 cm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&lt;3 cm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566000">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Size (L x W x H)</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98 x 98 x 87 mm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lang="en" sz="1200">
                          <a:solidFill>
                            <a:schemeClr val="dk1"/>
                          </a:solidFill>
                          <a:latin typeface="Calibri"/>
                          <a:ea typeface="Calibri"/>
                          <a:cs typeface="Calibri"/>
                          <a:sym typeface="Calibri"/>
                        </a:rPr>
                        <a:t>100 x 100 x 97 mm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type="title"/>
          </p:nvPr>
        </p:nvSpPr>
        <p:spPr>
          <a:xfrm>
            <a:off x="311700" y="85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20"/>
              <a:t>Trade Study-Absolute Encoders </a:t>
            </a:r>
            <a:endParaRPr/>
          </a:p>
        </p:txBody>
      </p:sp>
      <p:graphicFrame>
        <p:nvGraphicFramePr>
          <p:cNvPr id="299" name="Google Shape;299;p45"/>
          <p:cNvGraphicFramePr/>
          <p:nvPr/>
        </p:nvGraphicFramePr>
        <p:xfrm>
          <a:off x="813900" y="566500"/>
          <a:ext cx="3000000" cy="3000000"/>
        </p:xfrm>
        <a:graphic>
          <a:graphicData uri="http://schemas.openxmlformats.org/drawingml/2006/table">
            <a:tbl>
              <a:tblPr>
                <a:noFill/>
                <a:tableStyleId>{2509A160-D517-4D50-A620-2DCDBA34E849}</a:tableStyleId>
              </a:tblPr>
              <a:tblGrid>
                <a:gridCol w="1850950"/>
                <a:gridCol w="1850950"/>
                <a:gridCol w="1850950"/>
                <a:gridCol w="1850950"/>
              </a:tblGrid>
              <a:tr h="12700">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Characteristic</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CUI AMT 102</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Dynapar HS35</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BEI Sensors MAE3</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Resolution</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12 bits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Up to 17 bits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Up to 14 bits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Maximum Speed</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10,000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6,000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6,000 RPM</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Operating Voltage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5V or 9-30V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5-26V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5-30V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Output Options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SPI, ABI</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SSI, CANopen</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SSI, CANopen</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Price</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$39</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~$300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~$200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w="7625">
                      <a:solidFill>
                        <a:srgbClr val="D9D9E3"/>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title"/>
          </p:nvPr>
        </p:nvSpPr>
        <p:spPr>
          <a:xfrm>
            <a:off x="311700" y="259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20"/>
              <a:t>Trade Study-Cameras</a:t>
            </a:r>
            <a:endParaRPr/>
          </a:p>
        </p:txBody>
      </p:sp>
      <p:graphicFrame>
        <p:nvGraphicFramePr>
          <p:cNvPr id="305" name="Google Shape;305;p46"/>
          <p:cNvGraphicFramePr/>
          <p:nvPr/>
        </p:nvGraphicFramePr>
        <p:xfrm>
          <a:off x="196000" y="958800"/>
          <a:ext cx="3000000" cy="3000000"/>
        </p:xfrm>
        <a:graphic>
          <a:graphicData uri="http://schemas.openxmlformats.org/drawingml/2006/table">
            <a:tbl>
              <a:tblPr>
                <a:noFill/>
                <a:tableStyleId>{2509A160-D517-4D50-A620-2DCDBA34E849}</a:tableStyleId>
              </a:tblPr>
              <a:tblGrid>
                <a:gridCol w="1065075"/>
                <a:gridCol w="1065075"/>
                <a:gridCol w="1065075"/>
                <a:gridCol w="1065075"/>
                <a:gridCol w="1065075"/>
                <a:gridCol w="1065075"/>
                <a:gridCol w="1065075"/>
                <a:gridCol w="1065075"/>
              </a:tblGrid>
              <a:tr h="12700">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Camera Model</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Price</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Sensor Type</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Field of View</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Depth Sensing</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Max Range</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Max Frame Rate</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ctr">
                        <a:lnSpc>
                          <a:spcPct val="100000"/>
                        </a:lnSpc>
                        <a:spcBef>
                          <a:spcPts val="1900"/>
                        </a:spcBef>
                        <a:spcAft>
                          <a:spcPts val="1900"/>
                        </a:spcAft>
                        <a:buNone/>
                      </a:pPr>
                      <a:r>
                        <a:rPr b="1" lang="en" sz="1200">
                          <a:solidFill>
                            <a:schemeClr val="dk1"/>
                          </a:solidFill>
                          <a:latin typeface="Calibri"/>
                          <a:ea typeface="Calibri"/>
                          <a:cs typeface="Calibri"/>
                          <a:sym typeface="Calibri"/>
                        </a:rPr>
                        <a:t>Interface</a:t>
                      </a:r>
                      <a:endParaRPr sz="1200">
                        <a:solidFill>
                          <a:schemeClr val="dk1"/>
                        </a:solidFill>
                        <a:latin typeface="Calibri"/>
                        <a:ea typeface="Calibri"/>
                        <a:cs typeface="Calibri"/>
                        <a:sym typeface="Calibri"/>
                      </a:endParaRPr>
                    </a:p>
                  </a:txBody>
                  <a:tcPr marT="63500" marB="63500" marR="63500" marL="63500" anchor="b">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w="7625">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Oak-D Pro</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$349</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RGB + Depth</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68° H, 41° 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Yes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7 meters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60 fps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USB 3.0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r h="12700">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Intel RealSense D435</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$199 - $349</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RGB + Depth</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85.2° H, 58° V</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Yes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3</a:t>
                      </a:r>
                      <a:r>
                        <a:rPr lang="en" sz="1200">
                          <a:solidFill>
                            <a:schemeClr val="dk1"/>
                          </a:solidFill>
                          <a:latin typeface="Calibri"/>
                          <a:ea typeface="Calibri"/>
                          <a:cs typeface="Calibri"/>
                          <a:sym typeface="Calibri"/>
                        </a:rPr>
                        <a:t> meters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90 fps</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c>
                  <a:txBody>
                    <a:bodyPr/>
                    <a:lstStyle/>
                    <a:p>
                      <a:pPr indent="0" lvl="0" marL="0" rtl="0" algn="l">
                        <a:lnSpc>
                          <a:spcPct val="100000"/>
                        </a:lnSpc>
                        <a:spcBef>
                          <a:spcPts val="1900"/>
                        </a:spcBef>
                        <a:spcAft>
                          <a:spcPts val="1900"/>
                        </a:spcAft>
                        <a:buNone/>
                      </a:pPr>
                      <a:r>
                        <a:rPr lang="en" sz="1200">
                          <a:solidFill>
                            <a:schemeClr val="dk1"/>
                          </a:solidFill>
                          <a:latin typeface="Calibri"/>
                          <a:ea typeface="Calibri"/>
                          <a:cs typeface="Calibri"/>
                          <a:sym typeface="Calibri"/>
                        </a:rPr>
                        <a:t>USB 3.0</a:t>
                      </a:r>
                      <a:endParaRPr sz="1200">
                        <a:solidFill>
                          <a:schemeClr val="dk1"/>
                        </a:solidFill>
                        <a:latin typeface="Calibri"/>
                        <a:ea typeface="Calibri"/>
                        <a:cs typeface="Calibri"/>
                        <a:sym typeface="Calibri"/>
                      </a:endParaRPr>
                    </a:p>
                  </a:txBody>
                  <a:tcPr marT="63500" marB="63500" marR="63500" marL="63500" anchor="ctr">
                    <a:lnL cap="flat" cmpd="sng" w="7625">
                      <a:solidFill>
                        <a:srgbClr val="D9D9E3"/>
                      </a:solidFill>
                      <a:prstDash val="solid"/>
                      <a:round/>
                      <a:headEnd len="sm" w="sm" type="none"/>
                      <a:tailEnd len="sm" w="sm" type="none"/>
                    </a:lnL>
                    <a:lnR cap="flat" cmpd="sng" w="7625">
                      <a:solidFill>
                        <a:srgbClr val="D9D9E3"/>
                      </a:solidFill>
                      <a:prstDash val="solid"/>
                      <a:round/>
                      <a:headEnd len="sm" w="sm" type="none"/>
                      <a:tailEnd len="sm" w="sm" type="none"/>
                    </a:lnR>
                    <a:lnT cap="flat" cmpd="sng">
                      <a:solidFill>
                        <a:srgbClr val="D9D9E3"/>
                      </a:solidFill>
                      <a:prstDash val="solid"/>
                      <a:round/>
                      <a:headEnd len="sm" w="sm" type="none"/>
                      <a:tailEnd len="sm" w="sm" type="none"/>
                    </a:lnT>
                    <a:lnB cap="flat" cmpd="sng">
                      <a:solidFill>
                        <a:srgbClr val="D9D9E3"/>
                      </a:solidFill>
                      <a:prstDash val="solid"/>
                      <a:round/>
                      <a:headEnd len="sm" w="sm" type="none"/>
                      <a:tailEnd len="sm" w="sm" type="none"/>
                    </a:lnB>
                  </a:tcPr>
                </a:tc>
              </a:tr>
            </a:tbl>
          </a:graphicData>
        </a:graphic>
      </p:graphicFrame>
      <p:cxnSp>
        <p:nvCxnSpPr>
          <p:cNvPr id="306" name="Google Shape;306;p46"/>
          <p:cNvCxnSpPr/>
          <p:nvPr/>
        </p:nvCxnSpPr>
        <p:spPr>
          <a:xfrm>
            <a:off x="19600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46"/>
          <p:cNvCxnSpPr/>
          <p:nvPr/>
        </p:nvCxnSpPr>
        <p:spPr>
          <a:xfrm>
            <a:off x="126400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46"/>
          <p:cNvCxnSpPr/>
          <p:nvPr/>
        </p:nvCxnSpPr>
        <p:spPr>
          <a:xfrm>
            <a:off x="232615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46"/>
          <p:cNvCxnSpPr/>
          <p:nvPr/>
        </p:nvCxnSpPr>
        <p:spPr>
          <a:xfrm>
            <a:off x="339415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46"/>
          <p:cNvCxnSpPr/>
          <p:nvPr/>
        </p:nvCxnSpPr>
        <p:spPr>
          <a:xfrm>
            <a:off x="446215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11" name="Google Shape;311;p46"/>
          <p:cNvCxnSpPr/>
          <p:nvPr/>
        </p:nvCxnSpPr>
        <p:spPr>
          <a:xfrm>
            <a:off x="553015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12" name="Google Shape;312;p46"/>
          <p:cNvCxnSpPr/>
          <p:nvPr/>
        </p:nvCxnSpPr>
        <p:spPr>
          <a:xfrm>
            <a:off x="6598150" y="3721050"/>
            <a:ext cx="1068000" cy="0"/>
          </a:xfrm>
          <a:prstGeom prst="straightConnector1">
            <a:avLst/>
          </a:prstGeom>
          <a:noFill/>
          <a:ln cap="flat" cmpd="sng" w="9525">
            <a:solidFill>
              <a:schemeClr val="dk1"/>
            </a:solidFill>
            <a:prstDash val="solid"/>
            <a:round/>
            <a:headEnd len="med" w="med" type="none"/>
            <a:tailEnd len="med" w="med" type="none"/>
          </a:ln>
        </p:spPr>
      </p:cxnSp>
      <p:cxnSp>
        <p:nvCxnSpPr>
          <p:cNvPr id="313" name="Google Shape;313;p46"/>
          <p:cNvCxnSpPr/>
          <p:nvPr/>
        </p:nvCxnSpPr>
        <p:spPr>
          <a:xfrm>
            <a:off x="7651525" y="3721050"/>
            <a:ext cx="1068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Standard </a:t>
            </a:r>
            <a:r>
              <a:rPr lang="en"/>
              <a:t>Compliance</a:t>
            </a:r>
            <a:r>
              <a:rPr lang="en"/>
              <a:t> </a:t>
            </a:r>
            <a:endParaRPr/>
          </a:p>
        </p:txBody>
      </p:sp>
      <p:sp>
        <p:nvSpPr>
          <p:cNvPr id="319" name="Google Shape;319;p47"/>
          <p:cNvSpPr txBox="1"/>
          <p:nvPr>
            <p:ph idx="1" type="body"/>
          </p:nvPr>
        </p:nvSpPr>
        <p:spPr>
          <a:xfrm>
            <a:off x="311700" y="1152475"/>
            <a:ext cx="34281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sz="2300">
                <a:solidFill>
                  <a:schemeClr val="dk1"/>
                </a:solidFill>
              </a:rPr>
              <a:t>ASME Y14.1</a:t>
            </a:r>
            <a:endParaRPr sz="2300">
              <a:solidFill>
                <a:schemeClr val="dk1"/>
              </a:solidFill>
            </a:endParaRPr>
          </a:p>
          <a:p>
            <a:pPr indent="-292576" lvl="0" marL="457200" rtl="0" algn="l">
              <a:spcBef>
                <a:spcPts val="1200"/>
              </a:spcBef>
              <a:spcAft>
                <a:spcPts val="0"/>
              </a:spcAft>
              <a:buClr>
                <a:schemeClr val="dk1"/>
              </a:buClr>
              <a:buSzPct val="100000"/>
              <a:buChar char="●"/>
            </a:pPr>
            <a:r>
              <a:rPr lang="en" sz="1300">
                <a:solidFill>
                  <a:schemeClr val="dk1"/>
                </a:solidFill>
              </a:rPr>
              <a:t>ASME Y14.1 establishes requirements for engineering drawings and related documentation</a:t>
            </a:r>
            <a:endParaRPr sz="1300">
              <a:solidFill>
                <a:schemeClr val="dk1"/>
              </a:solidFill>
            </a:endParaRPr>
          </a:p>
          <a:p>
            <a:pPr indent="-292576" lvl="0" marL="457200" rtl="0" algn="l">
              <a:spcBef>
                <a:spcPts val="0"/>
              </a:spcBef>
              <a:spcAft>
                <a:spcPts val="0"/>
              </a:spcAft>
              <a:buClr>
                <a:schemeClr val="dk1"/>
              </a:buClr>
              <a:buSzPct val="100000"/>
              <a:buChar char="●"/>
            </a:pPr>
            <a:r>
              <a:rPr lang="en" sz="1300">
                <a:solidFill>
                  <a:schemeClr val="dk1"/>
                </a:solidFill>
              </a:rPr>
              <a:t>SolidWorks is a CAD software that helps create drawings that meet ASME Y14.1 compliance</a:t>
            </a:r>
            <a:endParaRPr sz="1300">
              <a:solidFill>
                <a:schemeClr val="dk1"/>
              </a:solidFill>
            </a:endParaRPr>
          </a:p>
          <a:p>
            <a:pPr indent="-292576" lvl="0" marL="457200" rtl="0" algn="l">
              <a:spcBef>
                <a:spcPts val="0"/>
              </a:spcBef>
              <a:spcAft>
                <a:spcPts val="0"/>
              </a:spcAft>
              <a:buClr>
                <a:schemeClr val="dk1"/>
              </a:buClr>
              <a:buSzPct val="100000"/>
              <a:buChar char="●"/>
            </a:pPr>
            <a:r>
              <a:rPr lang="en" sz="1300">
                <a:solidFill>
                  <a:schemeClr val="dk1"/>
                </a:solidFill>
              </a:rPr>
              <a:t>SolidWorks allows customization of drawing sheet format, including size, orientation, title block, and grid spacing</a:t>
            </a:r>
            <a:endParaRPr sz="1300">
              <a:solidFill>
                <a:schemeClr val="dk1"/>
              </a:solidFill>
            </a:endParaRPr>
          </a:p>
          <a:p>
            <a:pPr indent="-292576" lvl="0" marL="457200" rtl="0" algn="l">
              <a:spcBef>
                <a:spcPts val="0"/>
              </a:spcBef>
              <a:spcAft>
                <a:spcPts val="0"/>
              </a:spcAft>
              <a:buClr>
                <a:schemeClr val="dk1"/>
              </a:buClr>
              <a:buSzPct val="100000"/>
              <a:buChar char="●"/>
            </a:pPr>
            <a:r>
              <a:rPr lang="en" sz="1300">
                <a:solidFill>
                  <a:schemeClr val="dk1"/>
                </a:solidFill>
              </a:rPr>
              <a:t>Custom text styles and templates can be created in SolidWorks to conform to ASME Y14.1 requirements for text and labeling</a:t>
            </a:r>
            <a:endParaRPr sz="1300">
              <a:solidFill>
                <a:schemeClr val="dk1"/>
              </a:solidFill>
            </a:endParaRPr>
          </a:p>
          <a:p>
            <a:pPr indent="-292576" lvl="0" marL="457200" rtl="0" algn="l">
              <a:spcBef>
                <a:spcPts val="0"/>
              </a:spcBef>
              <a:spcAft>
                <a:spcPts val="0"/>
              </a:spcAft>
              <a:buClr>
                <a:schemeClr val="dk1"/>
              </a:buClr>
              <a:buSzPct val="100000"/>
              <a:buChar char="●"/>
            </a:pPr>
            <a:r>
              <a:rPr lang="en" sz="1300">
                <a:solidFill>
                  <a:schemeClr val="dk1"/>
                </a:solidFill>
              </a:rPr>
              <a:t>Multiple views of a part or assembly can be created in SolidWorks, with dimensions, notes, and other information, in accordance with ASME Y14.1</a:t>
            </a:r>
            <a:endParaRPr sz="1300">
              <a:solidFill>
                <a:schemeClr val="dk1"/>
              </a:solidFill>
            </a:endParaRPr>
          </a:p>
          <a:p>
            <a:pPr indent="-292576" lvl="0" marL="457200" rtl="0" algn="l">
              <a:spcBef>
                <a:spcPts val="0"/>
              </a:spcBef>
              <a:spcAft>
                <a:spcPts val="0"/>
              </a:spcAft>
              <a:buClr>
                <a:schemeClr val="dk1"/>
              </a:buClr>
              <a:buSzPct val="100000"/>
              <a:buChar char="●"/>
            </a:pPr>
            <a:r>
              <a:rPr lang="en" sz="1300">
                <a:solidFill>
                  <a:schemeClr val="dk1"/>
                </a:solidFill>
              </a:rPr>
              <a:t>SolidWorks features help organize drawings according to ASME Y14.1 requirements, including automatic view alignment and spacing</a:t>
            </a:r>
            <a:endParaRPr sz="1300">
              <a:solidFill>
                <a:schemeClr val="dk1"/>
              </a:solidFill>
            </a:endParaRPr>
          </a:p>
        </p:txBody>
      </p:sp>
      <p:sp>
        <p:nvSpPr>
          <p:cNvPr id="320" name="Google Shape;320;p47"/>
          <p:cNvSpPr txBox="1"/>
          <p:nvPr/>
        </p:nvSpPr>
        <p:spPr>
          <a:xfrm>
            <a:off x="5364550" y="2263950"/>
            <a:ext cx="231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pic>
        <p:nvPicPr>
          <p:cNvPr id="321" name="Google Shape;321;p47"/>
          <p:cNvPicPr preferRelativeResize="0"/>
          <p:nvPr/>
        </p:nvPicPr>
        <p:blipFill>
          <a:blip r:embed="rId3">
            <a:alphaModFix/>
          </a:blip>
          <a:stretch>
            <a:fillRect/>
          </a:stretch>
        </p:blipFill>
        <p:spPr>
          <a:xfrm>
            <a:off x="4330113" y="1356400"/>
            <a:ext cx="4379175" cy="311276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Standard Compliance Cont.</a:t>
            </a:r>
            <a:endParaRPr/>
          </a:p>
        </p:txBody>
      </p:sp>
      <p:sp>
        <p:nvSpPr>
          <p:cNvPr id="327" name="Google Shape;327;p48"/>
          <p:cNvSpPr txBox="1"/>
          <p:nvPr>
            <p:ph idx="1" type="body"/>
          </p:nvPr>
        </p:nvSpPr>
        <p:spPr>
          <a:xfrm>
            <a:off x="311700" y="1152475"/>
            <a:ext cx="48240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000">
                <a:solidFill>
                  <a:schemeClr val="dk1"/>
                </a:solidFill>
                <a:latin typeface="Calibri"/>
                <a:ea typeface="Calibri"/>
                <a:cs typeface="Calibri"/>
                <a:sym typeface="Calibri"/>
              </a:rPr>
              <a:t>ISO 12100 standard for risk assessment and risk reduction</a:t>
            </a:r>
            <a:endParaRPr sz="6000">
              <a:solidFill>
                <a:schemeClr val="dk1"/>
              </a:solidFill>
              <a:latin typeface="Calibri"/>
              <a:ea typeface="Calibri"/>
              <a:cs typeface="Calibri"/>
              <a:sym typeface="Calibri"/>
            </a:endParaRPr>
          </a:p>
          <a:p>
            <a:pPr indent="-303502" lvl="0" marL="457200" rtl="0" algn="l">
              <a:spcBef>
                <a:spcPts val="1200"/>
              </a:spcBef>
              <a:spcAft>
                <a:spcPts val="0"/>
              </a:spcAft>
              <a:buClr>
                <a:schemeClr val="dk1"/>
              </a:buClr>
              <a:buSzPct val="100000"/>
              <a:buFont typeface="Calibri"/>
              <a:buChar char="●"/>
            </a:pPr>
            <a:r>
              <a:rPr lang="en" sz="4718">
                <a:solidFill>
                  <a:schemeClr val="dk1"/>
                </a:solidFill>
                <a:latin typeface="Calibri"/>
                <a:ea typeface="Calibri"/>
                <a:cs typeface="Calibri"/>
                <a:sym typeface="Calibri"/>
              </a:rPr>
              <a:t>Potential risks associated with upgrading and overhauling of subsystems on the go-kart have been identified</a:t>
            </a:r>
            <a:endParaRPr sz="4718">
              <a:solidFill>
                <a:schemeClr val="dk1"/>
              </a:solidFill>
              <a:latin typeface="Calibri"/>
              <a:ea typeface="Calibri"/>
              <a:cs typeface="Calibri"/>
              <a:sym typeface="Calibri"/>
            </a:endParaRPr>
          </a:p>
          <a:p>
            <a:pPr indent="-303502" lvl="0" marL="457200" rtl="0" algn="l">
              <a:spcBef>
                <a:spcPts val="0"/>
              </a:spcBef>
              <a:spcAft>
                <a:spcPts val="0"/>
              </a:spcAft>
              <a:buClr>
                <a:schemeClr val="dk1"/>
              </a:buClr>
              <a:buSzPct val="100000"/>
              <a:buFont typeface="Calibri"/>
              <a:buChar char="●"/>
            </a:pPr>
            <a:r>
              <a:rPr lang="en" sz="4718">
                <a:solidFill>
                  <a:schemeClr val="dk1"/>
                </a:solidFill>
                <a:latin typeface="Calibri"/>
                <a:ea typeface="Calibri"/>
                <a:cs typeface="Calibri"/>
                <a:sym typeface="Calibri"/>
              </a:rPr>
              <a:t>Additive manufacturing techniques are being used to fabricate the mounting hardware for the LiDAR sensor and RGB-D camera system to reduce the risk of injury and accidents associated with traditional machining methods</a:t>
            </a:r>
            <a:endParaRPr sz="4718">
              <a:solidFill>
                <a:schemeClr val="dk1"/>
              </a:solidFill>
              <a:latin typeface="Calibri"/>
              <a:ea typeface="Calibri"/>
              <a:cs typeface="Calibri"/>
              <a:sym typeface="Calibri"/>
            </a:endParaRPr>
          </a:p>
          <a:p>
            <a:pPr indent="-303502" lvl="0" marL="457200" rtl="0" algn="l">
              <a:spcBef>
                <a:spcPts val="0"/>
              </a:spcBef>
              <a:spcAft>
                <a:spcPts val="0"/>
              </a:spcAft>
              <a:buClr>
                <a:schemeClr val="dk1"/>
              </a:buClr>
              <a:buSzPct val="100000"/>
              <a:buFont typeface="Calibri"/>
              <a:buChar char="●"/>
            </a:pPr>
            <a:r>
              <a:rPr lang="en" sz="4718">
                <a:solidFill>
                  <a:schemeClr val="dk1"/>
                </a:solidFill>
                <a:latin typeface="Calibri"/>
                <a:ea typeface="Calibri"/>
                <a:cs typeface="Calibri"/>
                <a:sym typeface="Calibri"/>
              </a:rPr>
              <a:t>A Text User Interface (TUI) is being implemented for control and monitoring of the go-kart to reduce the risk of accidents due to poor control and monitoring of the system</a:t>
            </a:r>
            <a:endParaRPr sz="4718">
              <a:solidFill>
                <a:schemeClr val="dk1"/>
              </a:solidFill>
              <a:latin typeface="Calibri"/>
              <a:ea typeface="Calibri"/>
              <a:cs typeface="Calibri"/>
              <a:sym typeface="Calibri"/>
            </a:endParaRPr>
          </a:p>
          <a:p>
            <a:pPr indent="-303502" lvl="0" marL="457200" rtl="0" algn="l">
              <a:spcBef>
                <a:spcPts val="0"/>
              </a:spcBef>
              <a:spcAft>
                <a:spcPts val="0"/>
              </a:spcAft>
              <a:buClr>
                <a:schemeClr val="dk1"/>
              </a:buClr>
              <a:buSzPct val="100000"/>
              <a:buFont typeface="Calibri"/>
              <a:buChar char="●"/>
            </a:pPr>
            <a:r>
              <a:rPr lang="en" sz="4718">
                <a:solidFill>
                  <a:schemeClr val="dk1"/>
                </a:solidFill>
                <a:latin typeface="Calibri"/>
                <a:ea typeface="Calibri"/>
                <a:cs typeface="Calibri"/>
                <a:sym typeface="Calibri"/>
              </a:rPr>
              <a:t>Measures are being taken to reduce the risk of damage to the system during the testing and integration phase, such as conducting field tests and tuning and filtering the software for the wheel odometry system</a:t>
            </a:r>
            <a:endParaRPr sz="4718">
              <a:solidFill>
                <a:schemeClr val="dk1"/>
              </a:solidFill>
              <a:latin typeface="Calibri"/>
              <a:ea typeface="Calibri"/>
              <a:cs typeface="Calibri"/>
              <a:sym typeface="Calibri"/>
            </a:endParaRPr>
          </a:p>
          <a:p>
            <a:pPr indent="-303502" lvl="0" marL="457200" rtl="0" algn="l">
              <a:spcBef>
                <a:spcPts val="0"/>
              </a:spcBef>
              <a:spcAft>
                <a:spcPts val="0"/>
              </a:spcAft>
              <a:buClr>
                <a:schemeClr val="dk1"/>
              </a:buClr>
              <a:buSzPct val="100000"/>
              <a:buFont typeface="Calibri"/>
              <a:buChar char="●"/>
            </a:pPr>
            <a:r>
              <a:rPr lang="en" sz="4718">
                <a:solidFill>
                  <a:schemeClr val="dk1"/>
                </a:solidFill>
                <a:latin typeface="Calibri"/>
                <a:ea typeface="Calibri"/>
                <a:cs typeface="Calibri"/>
                <a:sym typeface="Calibri"/>
              </a:rPr>
              <a:t>Adherence to the ISO 12100 standard ensures the prototype is safe, reliable, and can be tested and integrated with confidence.</a:t>
            </a:r>
            <a:endParaRPr sz="4718">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328" name="Google Shape;328;p48"/>
          <p:cNvPicPr preferRelativeResize="0"/>
          <p:nvPr/>
        </p:nvPicPr>
        <p:blipFill>
          <a:blip r:embed="rId3">
            <a:alphaModFix/>
          </a:blip>
          <a:stretch>
            <a:fillRect/>
          </a:stretch>
        </p:blipFill>
        <p:spPr>
          <a:xfrm>
            <a:off x="5301000" y="1596725"/>
            <a:ext cx="3750300" cy="25279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CAD Diagrams</a:t>
            </a:r>
            <a:endParaRPr/>
          </a:p>
        </p:txBody>
      </p:sp>
      <p:sp>
        <p:nvSpPr>
          <p:cNvPr id="334" name="Google Shape;33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Battery Retainer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335" name="Google Shape;335;p49"/>
          <p:cNvPicPr preferRelativeResize="0"/>
          <p:nvPr/>
        </p:nvPicPr>
        <p:blipFill>
          <a:blip r:embed="rId3">
            <a:alphaModFix/>
          </a:blip>
          <a:stretch>
            <a:fillRect/>
          </a:stretch>
        </p:blipFill>
        <p:spPr>
          <a:xfrm>
            <a:off x="2382413" y="1552525"/>
            <a:ext cx="4379175" cy="311276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CAD Diagrams</a:t>
            </a:r>
            <a:endParaRPr/>
          </a:p>
        </p:txBody>
      </p:sp>
      <p:sp>
        <p:nvSpPr>
          <p:cNvPr id="341" name="Google Shape;341;p50"/>
          <p:cNvSpPr txBox="1"/>
          <p:nvPr>
            <p:ph idx="1" type="body"/>
          </p:nvPr>
        </p:nvSpPr>
        <p:spPr>
          <a:xfrm>
            <a:off x="311700" y="1152475"/>
            <a:ext cx="2844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3d printed camera mount provides needed stability and placement for the updated LiDAR cage</a:t>
            </a:r>
            <a:endParaRPr>
              <a:solidFill>
                <a:schemeClr val="dk1"/>
              </a:solidFill>
            </a:endParaRPr>
          </a:p>
        </p:txBody>
      </p:sp>
      <p:pic>
        <p:nvPicPr>
          <p:cNvPr id="342" name="Google Shape;342;p50"/>
          <p:cNvPicPr preferRelativeResize="0"/>
          <p:nvPr/>
        </p:nvPicPr>
        <p:blipFill>
          <a:blip r:embed="rId3">
            <a:alphaModFix/>
          </a:blip>
          <a:stretch>
            <a:fillRect/>
          </a:stretch>
        </p:blipFill>
        <p:spPr>
          <a:xfrm>
            <a:off x="3266075" y="661263"/>
            <a:ext cx="5400233" cy="38209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1"/>
          <p:cNvSpPr txBox="1"/>
          <p:nvPr>
            <p:ph type="title"/>
          </p:nvPr>
        </p:nvSpPr>
        <p:spPr>
          <a:xfrm>
            <a:off x="178725" y="170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Electrical Schematics</a:t>
            </a:r>
            <a:endParaRPr/>
          </a:p>
        </p:txBody>
      </p:sp>
      <p:sp>
        <p:nvSpPr>
          <p:cNvPr id="348" name="Google Shape;348;p51"/>
          <p:cNvSpPr txBox="1"/>
          <p:nvPr>
            <p:ph idx="1" type="body"/>
          </p:nvPr>
        </p:nvSpPr>
        <p:spPr>
          <a:xfrm>
            <a:off x="4572000" y="743350"/>
            <a:ext cx="4260300" cy="4148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9" name="Google Shape;349;p51"/>
          <p:cNvPicPr preferRelativeResize="0"/>
          <p:nvPr/>
        </p:nvPicPr>
        <p:blipFill>
          <a:blip r:embed="rId3">
            <a:alphaModFix/>
          </a:blip>
          <a:stretch>
            <a:fillRect/>
          </a:stretch>
        </p:blipFill>
        <p:spPr>
          <a:xfrm>
            <a:off x="311700" y="743350"/>
            <a:ext cx="3676550" cy="4148526"/>
          </a:xfrm>
          <a:prstGeom prst="rect">
            <a:avLst/>
          </a:prstGeom>
          <a:noFill/>
          <a:ln>
            <a:noFill/>
          </a:ln>
        </p:spPr>
      </p:pic>
      <p:pic>
        <p:nvPicPr>
          <p:cNvPr id="350" name="Google Shape;350;p51"/>
          <p:cNvPicPr preferRelativeResize="0"/>
          <p:nvPr/>
        </p:nvPicPr>
        <p:blipFill>
          <a:blip r:embed="rId4">
            <a:alphaModFix/>
          </a:blip>
          <a:stretch>
            <a:fillRect/>
          </a:stretch>
        </p:blipFill>
        <p:spPr>
          <a:xfrm>
            <a:off x="4282850" y="1115951"/>
            <a:ext cx="4549450" cy="30317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Team chart &amp; major responsibilities of each member</a:t>
            </a:r>
            <a:endParaRPr sz="3500"/>
          </a:p>
        </p:txBody>
      </p:sp>
      <p:sp>
        <p:nvSpPr>
          <p:cNvPr id="356" name="Google Shape;356;p52"/>
          <p:cNvSpPr txBox="1"/>
          <p:nvPr>
            <p:ph idx="1" type="body"/>
          </p:nvPr>
        </p:nvSpPr>
        <p:spPr>
          <a:xfrm>
            <a:off x="311700" y="1987350"/>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853"/>
              <a:buNone/>
            </a:pPr>
            <a:r>
              <a:rPr lang="en" sz="1195">
                <a:solidFill>
                  <a:schemeClr val="dk1"/>
                </a:solidFill>
              </a:rPr>
              <a:t>Ben leads the Autonomous Go-Kart project, handling planning and scheduling while also using SolidWorks for designing the steering gearbox. Ben also works on odometry development using ROS2 and C++. Ben also worked on integration of the systems onto the go-kart. Ben’s responsibilities also included project architecting and communication between the larger EVT organization and our senior design team. </a:t>
            </a:r>
            <a:endParaRPr sz="1195">
              <a:solidFill>
                <a:schemeClr val="dk1"/>
              </a:solidFill>
            </a:endParaRPr>
          </a:p>
          <a:p>
            <a:pPr indent="0" lvl="0" marL="0" rtl="0" algn="l">
              <a:lnSpc>
                <a:spcPct val="105000"/>
              </a:lnSpc>
              <a:spcBef>
                <a:spcPts val="1200"/>
              </a:spcBef>
              <a:spcAft>
                <a:spcPts val="0"/>
              </a:spcAft>
              <a:buSzPts val="853"/>
              <a:buNone/>
            </a:pPr>
            <a:r>
              <a:rPr lang="en" sz="1195">
                <a:solidFill>
                  <a:schemeClr val="dk1"/>
                </a:solidFill>
              </a:rPr>
              <a:t>Brighton designs and 3D prints the Lidar and Camera cage using SolidWorks, while also being responsible for HMI development and designing the graphical user interface (GUI) for the go-kart. Brighton also assisted in manufacturing for the LiDAR-Camera mount and integration onto the kart.</a:t>
            </a:r>
            <a:endParaRPr sz="1195">
              <a:solidFill>
                <a:schemeClr val="dk1"/>
              </a:solidFill>
            </a:endParaRPr>
          </a:p>
          <a:p>
            <a:pPr indent="0" lvl="0" marL="0" rtl="0" algn="l">
              <a:lnSpc>
                <a:spcPct val="105000"/>
              </a:lnSpc>
              <a:spcBef>
                <a:spcPts val="1200"/>
              </a:spcBef>
              <a:spcAft>
                <a:spcPts val="0"/>
              </a:spcAft>
              <a:buSzPts val="853"/>
              <a:buNone/>
            </a:pPr>
            <a:r>
              <a:rPr lang="en" sz="1195">
                <a:solidFill>
                  <a:schemeClr val="dk1"/>
                </a:solidFill>
              </a:rPr>
              <a:t>Ruben ensures the go-kart's systems are working as intended by conducting software experimentation for testing development. They also work on HMI development, designing the GUI appearance and functionality using Python, and odometry development by programming with C++ and ROS2 to calculate wheel odometry mathematics.</a:t>
            </a:r>
            <a:endParaRPr sz="1195">
              <a:solidFill>
                <a:schemeClr val="dk1"/>
              </a:solidFill>
            </a:endParaRPr>
          </a:p>
          <a:p>
            <a:pPr indent="0" lvl="0" marL="0" rtl="0" algn="l">
              <a:lnSpc>
                <a:spcPct val="105000"/>
              </a:lnSpc>
              <a:spcBef>
                <a:spcPts val="1200"/>
              </a:spcBef>
              <a:spcAft>
                <a:spcPts val="1200"/>
              </a:spcAft>
              <a:buSzPts val="853"/>
              <a:buNone/>
            </a:pPr>
            <a:r>
              <a:rPr lang="en" sz="1195">
                <a:solidFill>
                  <a:schemeClr val="dk1"/>
                </a:solidFill>
              </a:rPr>
              <a:t>Crockett is responsible for embedded development, using micro-ros with hall effect sensors and teensy microcontrollers for wheel speed readings. They also program systemd processes for the go-kart and are involved in steering motor development by installing and configuring the O-Drive pro motor.</a:t>
            </a:r>
            <a:endParaRPr sz="1195">
              <a:solidFill>
                <a:schemeClr val="dk1"/>
              </a:solidFill>
            </a:endParaRPr>
          </a:p>
        </p:txBody>
      </p:sp>
      <p:pic>
        <p:nvPicPr>
          <p:cNvPr id="357" name="Google Shape;357;p52"/>
          <p:cNvPicPr preferRelativeResize="0"/>
          <p:nvPr/>
        </p:nvPicPr>
        <p:blipFill>
          <a:blip r:embed="rId3">
            <a:alphaModFix/>
          </a:blip>
          <a:stretch>
            <a:fillRect/>
          </a:stretch>
        </p:blipFill>
        <p:spPr>
          <a:xfrm>
            <a:off x="6170250" y="263000"/>
            <a:ext cx="2586525" cy="17243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t>Schedule - Gantt chart</a:t>
            </a:r>
            <a:endParaRPr/>
          </a:p>
        </p:txBody>
      </p:sp>
      <p:pic>
        <p:nvPicPr>
          <p:cNvPr id="363" name="Google Shape;363;p53"/>
          <p:cNvPicPr preferRelativeResize="0"/>
          <p:nvPr/>
        </p:nvPicPr>
        <p:blipFill rotWithShape="1">
          <a:blip r:embed="rId3">
            <a:alphaModFix/>
          </a:blip>
          <a:srcRect b="0" l="0" r="0" t="0"/>
          <a:stretch/>
        </p:blipFill>
        <p:spPr>
          <a:xfrm>
            <a:off x="1384200" y="711250"/>
            <a:ext cx="5841400" cy="42758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4"/>
          <p:cNvSpPr txBox="1"/>
          <p:nvPr>
            <p:ph type="title"/>
          </p:nvPr>
        </p:nvSpPr>
        <p:spPr>
          <a:xfrm>
            <a:off x="1152600" y="29905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 sz="2100"/>
              <a:t>Budget</a:t>
            </a:r>
            <a:endParaRPr sz="2100"/>
          </a:p>
        </p:txBody>
      </p:sp>
      <p:graphicFrame>
        <p:nvGraphicFramePr>
          <p:cNvPr id="369" name="Google Shape;369;p54"/>
          <p:cNvGraphicFramePr/>
          <p:nvPr/>
        </p:nvGraphicFramePr>
        <p:xfrm>
          <a:off x="1648150" y="781050"/>
          <a:ext cx="3000000" cy="3000000"/>
        </p:xfrm>
        <a:graphic>
          <a:graphicData uri="http://schemas.openxmlformats.org/drawingml/2006/table">
            <a:tbl>
              <a:tblPr bandRow="1">
                <a:noFill/>
                <a:tableStyleId>{C4207ABB-47A3-4D0E-A62E-444825B8D82E}</a:tableStyleId>
              </a:tblPr>
              <a:tblGrid>
                <a:gridCol w="3215000"/>
                <a:gridCol w="2632700"/>
              </a:tblGrid>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Items</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Price ($)</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CUI AMT 102 encoder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$39.00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Littelfuse M12 Gear tooth Speed Sensor (x2)</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$85.60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Ouster Os-0 64 channel LiDAR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$4500.00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Oak-D pro</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$349.00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PCB for VCU/SCU</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$300.00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Odrive Robotics D6374 -150kV</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$229.00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Teesny 4.1 Microcontroller</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$31.50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DUAL SHAFT MOTOR - D6374 150KV</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$119.00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Misc. Parts/Materials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$3000.00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Total Cost</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$8,653.10</a:t>
                      </a:r>
                      <a:endParaRPr sz="1200">
                        <a:solidFill>
                          <a:schemeClr val="dk1"/>
                        </a:solidFill>
                        <a:latin typeface="Calibri"/>
                        <a:ea typeface="Calibri"/>
                        <a:cs typeface="Calibri"/>
                        <a:sym typeface="Calibri"/>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Source of Materials and Resources</a:t>
            </a:r>
            <a:endParaRPr/>
          </a:p>
          <a:p>
            <a:pPr indent="0" lvl="0" marL="0" rtl="0" algn="l">
              <a:spcBef>
                <a:spcPts val="0"/>
              </a:spcBef>
              <a:spcAft>
                <a:spcPts val="0"/>
              </a:spcAft>
              <a:buNone/>
            </a:pPr>
            <a:r>
              <a:t/>
            </a:r>
            <a:endParaRPr/>
          </a:p>
        </p:txBody>
      </p:sp>
      <p:sp>
        <p:nvSpPr>
          <p:cNvPr id="375" name="Google Shape;375;p55"/>
          <p:cNvSpPr txBox="1"/>
          <p:nvPr>
            <p:ph idx="1" type="body"/>
          </p:nvPr>
        </p:nvSpPr>
        <p:spPr>
          <a:xfrm>
            <a:off x="1525225" y="1370425"/>
            <a:ext cx="32865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1108">
                <a:solidFill>
                  <a:schemeClr val="dk1"/>
                </a:solidFill>
                <a:latin typeface="Lato"/>
                <a:ea typeface="Lato"/>
                <a:cs typeface="Lato"/>
                <a:sym typeface="Lato"/>
              </a:rPr>
              <a:t>Software:</a:t>
            </a:r>
            <a:endParaRPr sz="1108">
              <a:solidFill>
                <a:schemeClr val="dk1"/>
              </a:solidFill>
              <a:latin typeface="Lato"/>
              <a:ea typeface="Lato"/>
              <a:cs typeface="Lato"/>
              <a:sym typeface="Lato"/>
            </a:endParaRPr>
          </a:p>
          <a:p>
            <a:pPr indent="-298926" lvl="0" marL="457200" rtl="0" algn="l">
              <a:lnSpc>
                <a:spcPct val="95000"/>
              </a:lnSpc>
              <a:spcBef>
                <a:spcPts val="120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3">
                  <a:extLst>
                    <a:ext uri="{A12FA001-AC4F-418D-AE19-62706E023703}">
                      <ahyp:hlinkClr val="tx"/>
                    </a:ext>
                  </a:extLst>
                </a:hlinkClick>
              </a:rPr>
              <a:t>ROS2_WIKI</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4">
                  <a:extLst>
                    <a:ext uri="{A12FA001-AC4F-418D-AE19-62706E023703}">
                      <ahyp:hlinkClr val="tx"/>
                    </a:ext>
                  </a:extLst>
                </a:hlinkClick>
              </a:rPr>
              <a:t>Wheel_Odometry ROS code</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5">
                  <a:extLst>
                    <a:ext uri="{A12FA001-AC4F-418D-AE19-62706E023703}">
                      <ahyp:hlinkClr val="tx"/>
                    </a:ext>
                  </a:extLst>
                </a:hlinkClick>
              </a:rPr>
              <a:t>Odrive_WIKI</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6">
                  <a:extLst>
                    <a:ext uri="{A12FA001-AC4F-418D-AE19-62706E023703}">
                      <ahyp:hlinkClr val="tx"/>
                    </a:ext>
                  </a:extLst>
                </a:hlinkClick>
              </a:rPr>
              <a:t>SolidWorks</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7">
                  <a:extLst>
                    <a:ext uri="{A12FA001-AC4F-418D-AE19-62706E023703}">
                      <ahyp:hlinkClr val="tx"/>
                    </a:ext>
                  </a:extLst>
                </a:hlinkClick>
              </a:rPr>
              <a:t>Altium</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8">
                  <a:extLst>
                    <a:ext uri="{A12FA001-AC4F-418D-AE19-62706E023703}">
                      <ahyp:hlinkClr val="tx"/>
                    </a:ext>
                  </a:extLst>
                </a:hlinkClick>
              </a:rPr>
              <a:t>MatLab</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9">
                  <a:extLst>
                    <a:ext uri="{A12FA001-AC4F-418D-AE19-62706E023703}">
                      <ahyp:hlinkClr val="tx"/>
                    </a:ext>
                  </a:extLst>
                </a:hlinkClick>
              </a:rPr>
              <a:t>Ubuntu 22.04</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0">
                  <a:extLst>
                    <a:ext uri="{A12FA001-AC4F-418D-AE19-62706E023703}">
                      <ahyp:hlinkClr val="tx"/>
                    </a:ext>
                  </a:extLst>
                </a:hlinkClick>
              </a:rPr>
              <a:t>Gitlab</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1">
                  <a:extLst>
                    <a:ext uri="{A12FA001-AC4F-418D-AE19-62706E023703}">
                      <ahyp:hlinkClr val="tx"/>
                    </a:ext>
                  </a:extLst>
                </a:hlinkClick>
              </a:rPr>
              <a:t>Discord</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2">
                  <a:extLst>
                    <a:ext uri="{A12FA001-AC4F-418D-AE19-62706E023703}">
                      <ahyp:hlinkClr val="tx"/>
                    </a:ext>
                  </a:extLst>
                </a:hlinkClick>
              </a:rPr>
              <a:t>Autorally project</a:t>
            </a:r>
            <a:endParaRPr sz="1108">
              <a:solidFill>
                <a:schemeClr val="dk1"/>
              </a:solidFill>
              <a:latin typeface="Lato"/>
              <a:ea typeface="Lato"/>
              <a:cs typeface="Lato"/>
              <a:sym typeface="Lato"/>
            </a:endParaRPr>
          </a:p>
          <a:p>
            <a:pPr indent="0" lvl="0" marL="0" rtl="0" algn="l">
              <a:lnSpc>
                <a:spcPct val="95000"/>
              </a:lnSpc>
              <a:spcBef>
                <a:spcPts val="1200"/>
              </a:spcBef>
              <a:spcAft>
                <a:spcPts val="0"/>
              </a:spcAft>
              <a:buSzPts val="853"/>
              <a:buNone/>
            </a:pPr>
            <a:r>
              <a:rPr lang="en" sz="1108">
                <a:solidFill>
                  <a:schemeClr val="dk1"/>
                </a:solidFill>
                <a:latin typeface="Lato"/>
                <a:ea typeface="Lato"/>
                <a:cs typeface="Lato"/>
                <a:sym typeface="Lato"/>
              </a:rPr>
              <a:t>Hardware:</a:t>
            </a:r>
            <a:endParaRPr sz="1108">
              <a:solidFill>
                <a:schemeClr val="dk1"/>
              </a:solidFill>
              <a:latin typeface="Lato"/>
              <a:ea typeface="Lato"/>
              <a:cs typeface="Lato"/>
              <a:sym typeface="Lato"/>
            </a:endParaRPr>
          </a:p>
          <a:p>
            <a:pPr indent="-298926" lvl="0" marL="457200" rtl="0" algn="l">
              <a:lnSpc>
                <a:spcPct val="95000"/>
              </a:lnSpc>
              <a:spcBef>
                <a:spcPts val="120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3">
                  <a:extLst>
                    <a:ext uri="{A12FA001-AC4F-418D-AE19-62706E023703}">
                      <ahyp:hlinkClr val="tx"/>
                    </a:ext>
                  </a:extLst>
                </a:hlinkClick>
              </a:rPr>
              <a:t>McMaster-Carr</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4">
                  <a:extLst>
                    <a:ext uri="{A12FA001-AC4F-418D-AE19-62706E023703}">
                      <ahyp:hlinkClr val="tx"/>
                    </a:ext>
                  </a:extLst>
                </a:hlinkClick>
              </a:rPr>
              <a:t>Luxonis</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5">
                  <a:extLst>
                    <a:ext uri="{A12FA001-AC4F-418D-AE19-62706E023703}">
                      <ahyp:hlinkClr val="tx"/>
                    </a:ext>
                  </a:extLst>
                </a:hlinkClick>
              </a:rPr>
              <a:t>Ouster</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6">
                  <a:extLst>
                    <a:ext uri="{A12FA001-AC4F-418D-AE19-62706E023703}">
                      <ahyp:hlinkClr val="tx"/>
                    </a:ext>
                  </a:extLst>
                </a:hlinkClick>
              </a:rPr>
              <a:t>OdriveRobotics</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7">
                  <a:extLst>
                    <a:ext uri="{A12FA001-AC4F-418D-AE19-62706E023703}">
                      <ahyp:hlinkClr val="tx"/>
                    </a:ext>
                  </a:extLst>
                </a:hlinkClick>
              </a:rPr>
              <a:t>Digikey</a:t>
            </a:r>
            <a:endParaRPr sz="1108">
              <a:solidFill>
                <a:schemeClr val="dk1"/>
              </a:solidFill>
              <a:latin typeface="Lato"/>
              <a:ea typeface="Lato"/>
              <a:cs typeface="Lato"/>
              <a:sym typeface="Lato"/>
            </a:endParaRPr>
          </a:p>
          <a:p>
            <a:pPr indent="-298926" lvl="0" marL="457200" rtl="0" algn="l">
              <a:lnSpc>
                <a:spcPct val="95000"/>
              </a:lnSpc>
              <a:spcBef>
                <a:spcPts val="0"/>
              </a:spcBef>
              <a:spcAft>
                <a:spcPts val="0"/>
              </a:spcAft>
              <a:buClr>
                <a:schemeClr val="dk1"/>
              </a:buClr>
              <a:buSzPts val="1108"/>
              <a:buFont typeface="Lato"/>
              <a:buChar char="●"/>
            </a:pPr>
            <a:r>
              <a:rPr lang="en" sz="1108" u="sng">
                <a:solidFill>
                  <a:srgbClr val="7890CD"/>
                </a:solidFill>
                <a:latin typeface="Lato"/>
                <a:ea typeface="Lato"/>
                <a:cs typeface="Lato"/>
                <a:sym typeface="Lato"/>
                <a:hlinkClick r:id="rId18">
                  <a:extLst>
                    <a:ext uri="{A12FA001-AC4F-418D-AE19-62706E023703}">
                      <ahyp:hlinkClr val="tx"/>
                    </a:ext>
                  </a:extLst>
                </a:hlinkClick>
              </a:rPr>
              <a:t>PJRC</a:t>
            </a:r>
            <a:endParaRPr sz="1495"/>
          </a:p>
        </p:txBody>
      </p:sp>
      <p:sp>
        <p:nvSpPr>
          <p:cNvPr id="376" name="Google Shape;376;p55"/>
          <p:cNvSpPr txBox="1"/>
          <p:nvPr/>
        </p:nvSpPr>
        <p:spPr>
          <a:xfrm>
            <a:off x="4811725" y="1508575"/>
            <a:ext cx="28551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ato"/>
                <a:ea typeface="Lato"/>
                <a:cs typeface="Lato"/>
                <a:sym typeface="Lato"/>
              </a:rPr>
              <a:t>Mentors: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Cameron McKinney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Timothy Gallion</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Dr. David Guerra-Zubiaga</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Dr. Matt Marshall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Sahan Reddy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Walker Burns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KSU Formula SAE Team</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Facility: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Mechatronics Lab Q-118</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Wilder Communications Center/EVT Workshop</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Media Collection</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Stray Dog Pictures</a:t>
            </a:r>
            <a:endParaRPr sz="1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Demonstration Video </a:t>
            </a:r>
            <a:endParaRPr/>
          </a:p>
        </p:txBody>
      </p:sp>
      <p:pic>
        <p:nvPicPr>
          <p:cNvPr id="382" name="Google Shape;382;p56" title="evt_kart_2023 (Original).mp4">
            <a:hlinkClick r:id="rId3"/>
          </p:cNvPr>
          <p:cNvPicPr preferRelativeResize="0"/>
          <p:nvPr/>
        </p:nvPicPr>
        <p:blipFill>
          <a:blip r:embed="rId4">
            <a:alphaModFix/>
          </a:blip>
          <a:stretch>
            <a:fillRect/>
          </a:stretch>
        </p:blipFill>
        <p:spPr>
          <a:xfrm>
            <a:off x="2286000" y="11701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311700" y="445025"/>
            <a:ext cx="8520600" cy="88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Lessons Learned</a:t>
            </a:r>
            <a:endParaRPr>
              <a:highlight>
                <a:srgbClr val="00FFFF"/>
              </a:highlight>
            </a:endParaRPr>
          </a:p>
        </p:txBody>
      </p:sp>
      <p:sp>
        <p:nvSpPr>
          <p:cNvPr id="388" name="Google Shape;388;p57"/>
          <p:cNvSpPr txBox="1"/>
          <p:nvPr>
            <p:ph idx="1" type="body"/>
          </p:nvPr>
        </p:nvSpPr>
        <p:spPr>
          <a:xfrm>
            <a:off x="781800" y="1373450"/>
            <a:ext cx="7580400" cy="3416400"/>
          </a:xfrm>
          <a:prstGeom prst="rect">
            <a:avLst/>
          </a:prstGeom>
        </p:spPr>
        <p:txBody>
          <a:bodyPr anchorCtr="0" anchor="t" bIns="91425" lIns="91425" spcFirstLastPara="1" rIns="91425" wrap="square" tIns="91425">
            <a:normAutofit fontScale="92500" lnSpcReduction="20000"/>
          </a:bodyPr>
          <a:lstStyle/>
          <a:p>
            <a:pPr indent="-322104" lvl="0" marL="457200" rtl="0" algn="l">
              <a:spcBef>
                <a:spcPts val="0"/>
              </a:spcBef>
              <a:spcAft>
                <a:spcPts val="0"/>
              </a:spcAft>
              <a:buClr>
                <a:schemeClr val="dk1"/>
              </a:buClr>
              <a:buSzPct val="100000"/>
              <a:buChar char="●"/>
            </a:pPr>
            <a:r>
              <a:rPr lang="en" sz="1592">
                <a:solidFill>
                  <a:schemeClr val="dk1"/>
                </a:solidFill>
              </a:rPr>
              <a:t>We gained proficiency in ROS2, which is a popular and powerful framework for building robotics systems, opening up a range of opportunities for future projects and applications.</a:t>
            </a:r>
            <a:endParaRPr sz="1592">
              <a:solidFill>
                <a:schemeClr val="dk1"/>
              </a:solidFill>
            </a:endParaRPr>
          </a:p>
          <a:p>
            <a:pPr indent="-322104" lvl="0" marL="457200" rtl="0" algn="l">
              <a:spcBef>
                <a:spcPts val="0"/>
              </a:spcBef>
              <a:spcAft>
                <a:spcPts val="0"/>
              </a:spcAft>
              <a:buClr>
                <a:schemeClr val="dk1"/>
              </a:buClr>
              <a:buSzPct val="100000"/>
              <a:buChar char="●"/>
            </a:pPr>
            <a:r>
              <a:rPr lang="en" sz="1592">
                <a:solidFill>
                  <a:schemeClr val="dk1"/>
                </a:solidFill>
              </a:rPr>
              <a:t>We gained proficiency in platformio, a build platform for many micro-controllers such as the Arduino and Teensy.</a:t>
            </a:r>
            <a:endParaRPr sz="1592">
              <a:solidFill>
                <a:schemeClr val="dk1"/>
              </a:solidFill>
            </a:endParaRPr>
          </a:p>
          <a:p>
            <a:pPr indent="-322104" lvl="0" marL="457200" rtl="0" algn="l">
              <a:spcBef>
                <a:spcPts val="0"/>
              </a:spcBef>
              <a:spcAft>
                <a:spcPts val="0"/>
              </a:spcAft>
              <a:buClr>
                <a:schemeClr val="dk1"/>
              </a:buClr>
              <a:buSzPct val="100000"/>
              <a:buChar char="●"/>
            </a:pPr>
            <a:r>
              <a:rPr lang="en" sz="1592">
                <a:solidFill>
                  <a:schemeClr val="dk1"/>
                </a:solidFill>
              </a:rPr>
              <a:t>We honed our skills in C++ and Cmake which are fundamental skills for any software development project, leading to more successful and impactful projects.</a:t>
            </a:r>
            <a:endParaRPr sz="1592">
              <a:solidFill>
                <a:schemeClr val="dk1"/>
              </a:solidFill>
            </a:endParaRPr>
          </a:p>
          <a:p>
            <a:pPr indent="-322104" lvl="0" marL="457200" rtl="0" algn="l">
              <a:spcBef>
                <a:spcPts val="0"/>
              </a:spcBef>
              <a:spcAft>
                <a:spcPts val="0"/>
              </a:spcAft>
              <a:buClr>
                <a:schemeClr val="dk1"/>
              </a:buClr>
              <a:buSzPct val="100000"/>
              <a:buChar char="●"/>
            </a:pPr>
            <a:r>
              <a:rPr lang="en" sz="1592">
                <a:solidFill>
                  <a:schemeClr val="dk1"/>
                </a:solidFill>
              </a:rPr>
              <a:t>Learned about various software platforms such as textualize, foxglove studio, and the new ODrive PRO motor controller configuration features</a:t>
            </a:r>
            <a:endParaRPr sz="1592">
              <a:solidFill>
                <a:schemeClr val="dk1"/>
              </a:solidFill>
            </a:endParaRPr>
          </a:p>
          <a:p>
            <a:pPr indent="-322104" lvl="0" marL="457200" rtl="0" algn="l">
              <a:spcBef>
                <a:spcPts val="0"/>
              </a:spcBef>
              <a:spcAft>
                <a:spcPts val="0"/>
              </a:spcAft>
              <a:buClr>
                <a:schemeClr val="dk1"/>
              </a:buClr>
              <a:buSzPct val="100000"/>
              <a:buChar char="●"/>
            </a:pPr>
            <a:r>
              <a:rPr lang="en" sz="1592">
                <a:solidFill>
                  <a:schemeClr val="dk1"/>
                </a:solidFill>
              </a:rPr>
              <a:t>We became adept at finding, reading, and using documentation, which is crucial for navigating and using devices and code effectively, saving time and effort and reducing errors and bugs in the project.</a:t>
            </a:r>
            <a:endParaRPr sz="1592">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Achievements</a:t>
            </a:r>
            <a:endParaRPr>
              <a:highlight>
                <a:srgbClr val="00FFFF"/>
              </a:highlight>
            </a:endParaRPr>
          </a:p>
        </p:txBody>
      </p:sp>
      <p:sp>
        <p:nvSpPr>
          <p:cNvPr id="394" name="Google Shape;394;p58"/>
          <p:cNvSpPr txBox="1"/>
          <p:nvPr>
            <p:ph idx="1" type="body"/>
          </p:nvPr>
        </p:nvSpPr>
        <p:spPr>
          <a:xfrm>
            <a:off x="370025" y="1940000"/>
            <a:ext cx="4260300" cy="2483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Settling time for the steering system was reduced by 85% (0.167s vs 1.18s).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new LiDAR cage offers necessary protection for vital systems.</a:t>
            </a:r>
            <a:endParaRPr>
              <a:solidFill>
                <a:schemeClr val="dk1"/>
              </a:solidFill>
            </a:endParaRPr>
          </a:p>
        </p:txBody>
      </p:sp>
      <p:pic>
        <p:nvPicPr>
          <p:cNvPr id="395" name="Google Shape;395;p58"/>
          <p:cNvPicPr preferRelativeResize="0"/>
          <p:nvPr/>
        </p:nvPicPr>
        <p:blipFill>
          <a:blip r:embed="rId3">
            <a:alphaModFix/>
          </a:blip>
          <a:stretch>
            <a:fillRect/>
          </a:stretch>
        </p:blipFill>
        <p:spPr>
          <a:xfrm>
            <a:off x="5727119" y="2982975"/>
            <a:ext cx="2867343" cy="1818725"/>
          </a:xfrm>
          <a:prstGeom prst="rect">
            <a:avLst/>
          </a:prstGeom>
          <a:noFill/>
          <a:ln>
            <a:noFill/>
          </a:ln>
        </p:spPr>
      </p:pic>
      <p:pic>
        <p:nvPicPr>
          <p:cNvPr id="396" name="Google Shape;396;p58"/>
          <p:cNvPicPr preferRelativeResize="0"/>
          <p:nvPr/>
        </p:nvPicPr>
        <p:blipFill>
          <a:blip r:embed="rId4">
            <a:alphaModFix/>
          </a:blip>
          <a:stretch>
            <a:fillRect/>
          </a:stretch>
        </p:blipFill>
        <p:spPr>
          <a:xfrm>
            <a:off x="5727125" y="1170125"/>
            <a:ext cx="2949016" cy="166044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Achievements Cont.</a:t>
            </a:r>
            <a:endParaRPr/>
          </a:p>
        </p:txBody>
      </p:sp>
      <p:sp>
        <p:nvSpPr>
          <p:cNvPr id="402" name="Google Shape;402;p59"/>
          <p:cNvSpPr txBox="1"/>
          <p:nvPr>
            <p:ph idx="1" type="body"/>
          </p:nvPr>
        </p:nvSpPr>
        <p:spPr>
          <a:xfrm>
            <a:off x="574225" y="2074900"/>
            <a:ext cx="4260300" cy="14778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Clr>
                <a:schemeClr val="dk1"/>
              </a:buClr>
              <a:buSzPct val="100000"/>
              <a:buChar char="●"/>
            </a:pPr>
            <a:r>
              <a:rPr lang="en">
                <a:solidFill>
                  <a:schemeClr val="dk1"/>
                </a:solidFill>
              </a:rPr>
              <a:t>Steering backlash was reduced by 53.6%.</a:t>
            </a:r>
            <a:br>
              <a:rPr lang="en">
                <a:solidFill>
                  <a:schemeClr val="dk1"/>
                </a:solidFill>
              </a:rPr>
            </a:br>
            <a:endParaRPr>
              <a:solidFill>
                <a:schemeClr val="dk1"/>
              </a:solidFill>
            </a:endParaRPr>
          </a:p>
          <a:p>
            <a:pPr indent="-317183" lvl="0" marL="457200" rtl="0" algn="l">
              <a:spcBef>
                <a:spcPts val="0"/>
              </a:spcBef>
              <a:spcAft>
                <a:spcPts val="0"/>
              </a:spcAft>
              <a:buClr>
                <a:schemeClr val="dk1"/>
              </a:buClr>
              <a:buSzPct val="100000"/>
              <a:buChar char="●"/>
            </a:pPr>
            <a:r>
              <a:rPr lang="en">
                <a:solidFill>
                  <a:schemeClr val="dk1"/>
                </a:solidFill>
              </a:rPr>
              <a:t>A newly designed and installed odometry system gives an accurate position of the kart over a short time horizon with a publishing rate of 100hz.</a:t>
            </a:r>
            <a:endParaRPr>
              <a:solidFill>
                <a:schemeClr val="dk1"/>
              </a:solidFill>
            </a:endParaRPr>
          </a:p>
        </p:txBody>
      </p:sp>
      <p:pic>
        <p:nvPicPr>
          <p:cNvPr id="403" name="Google Shape;403;p59"/>
          <p:cNvPicPr preferRelativeResize="0"/>
          <p:nvPr/>
        </p:nvPicPr>
        <p:blipFill>
          <a:blip r:embed="rId3">
            <a:alphaModFix/>
          </a:blip>
          <a:stretch>
            <a:fillRect/>
          </a:stretch>
        </p:blipFill>
        <p:spPr>
          <a:xfrm>
            <a:off x="5659875" y="2973800"/>
            <a:ext cx="2687549" cy="1845250"/>
          </a:xfrm>
          <a:prstGeom prst="rect">
            <a:avLst/>
          </a:prstGeom>
          <a:noFill/>
          <a:ln>
            <a:noFill/>
          </a:ln>
        </p:spPr>
      </p:pic>
      <p:pic>
        <p:nvPicPr>
          <p:cNvPr id="404" name="Google Shape;404;p59"/>
          <p:cNvPicPr preferRelativeResize="0"/>
          <p:nvPr/>
        </p:nvPicPr>
        <p:blipFill>
          <a:blip r:embed="rId4">
            <a:alphaModFix/>
          </a:blip>
          <a:stretch>
            <a:fillRect/>
          </a:stretch>
        </p:blipFill>
        <p:spPr>
          <a:xfrm>
            <a:off x="5659875" y="445025"/>
            <a:ext cx="2687550" cy="22111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0"/>
          <p:cNvSpPr txBox="1"/>
          <p:nvPr>
            <p:ph type="title"/>
          </p:nvPr>
        </p:nvSpPr>
        <p:spPr>
          <a:xfrm>
            <a:off x="311700" y="445025"/>
            <a:ext cx="5944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33"/>
              <a:t>Future works &amp; possible optimizations </a:t>
            </a:r>
            <a:endParaRPr sz="3733">
              <a:highlight>
                <a:srgbClr val="00FFFF"/>
              </a:highlight>
            </a:endParaRPr>
          </a:p>
        </p:txBody>
      </p:sp>
      <p:sp>
        <p:nvSpPr>
          <p:cNvPr id="410" name="Google Shape;410;p60"/>
          <p:cNvSpPr txBox="1"/>
          <p:nvPr>
            <p:ph idx="1" type="body"/>
          </p:nvPr>
        </p:nvSpPr>
        <p:spPr>
          <a:xfrm>
            <a:off x="87400" y="1017725"/>
            <a:ext cx="8520600" cy="572700"/>
          </a:xfrm>
          <a:prstGeom prst="rect">
            <a:avLst/>
          </a:prstGeom>
        </p:spPr>
        <p:txBody>
          <a:bodyPr anchorCtr="0" anchor="t" bIns="91425" lIns="91425" spcFirstLastPara="1" rIns="91425" wrap="square" tIns="91425">
            <a:normAutofit fontScale="25000" lnSpcReduction="20000"/>
          </a:bodyPr>
          <a:lstStyle/>
          <a:p>
            <a:pPr indent="-228600" lvl="0" marL="457200" rtl="0" algn="l">
              <a:spcBef>
                <a:spcPts val="0"/>
              </a:spcBef>
              <a:spcAft>
                <a:spcPts val="0"/>
              </a:spcAft>
              <a:buNone/>
            </a:pPr>
            <a:r>
              <a:rPr lang="en" sz="5600">
                <a:solidFill>
                  <a:schemeClr val="dk1"/>
                </a:solidFill>
                <a:latin typeface="Calibri"/>
                <a:ea typeface="Calibri"/>
                <a:cs typeface="Calibri"/>
                <a:sym typeface="Calibri"/>
              </a:rPr>
              <a:t>TUI for the System processes of the Voltron Go-kart:</a:t>
            </a:r>
            <a:endParaRPr sz="56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200">
              <a:solidFill>
                <a:schemeClr val="dk1"/>
              </a:solidFill>
              <a:latin typeface="Roboto"/>
              <a:ea typeface="Roboto"/>
              <a:cs typeface="Roboto"/>
              <a:sym typeface="Roboto"/>
            </a:endParaRPr>
          </a:p>
          <a:p>
            <a:pPr indent="0" lvl="0" marL="457200" rtl="0" algn="l">
              <a:spcBef>
                <a:spcPts val="0"/>
              </a:spcBef>
              <a:spcAft>
                <a:spcPts val="0"/>
              </a:spcAft>
              <a:buNone/>
            </a:pPr>
            <a:r>
              <a:t/>
            </a:r>
            <a:endParaRPr>
              <a:solidFill>
                <a:schemeClr val="dk1"/>
              </a:solidFill>
            </a:endParaRPr>
          </a:p>
          <a:p>
            <a:pPr indent="0" lvl="0" marL="457200" rtl="0" algn="l">
              <a:spcBef>
                <a:spcPts val="1200"/>
              </a:spcBef>
              <a:spcAft>
                <a:spcPts val="1200"/>
              </a:spcAft>
              <a:buNone/>
            </a:pPr>
            <a:r>
              <a:t/>
            </a:r>
            <a:endParaRPr>
              <a:solidFill>
                <a:schemeClr val="dk1"/>
              </a:solidFill>
              <a:highlight>
                <a:srgbClr val="FF9900"/>
              </a:highlight>
            </a:endParaRPr>
          </a:p>
        </p:txBody>
      </p:sp>
      <p:sp>
        <p:nvSpPr>
          <p:cNvPr id="411" name="Google Shape;411;p60"/>
          <p:cNvSpPr txBox="1"/>
          <p:nvPr/>
        </p:nvSpPr>
        <p:spPr>
          <a:xfrm>
            <a:off x="87400" y="1479525"/>
            <a:ext cx="3411300" cy="37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Improved human interactivity: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Allows users to see active/inactive system processes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Enables users to start, stop, and restart system processes of their choice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Shows the current status of the kart: Autonomous/ Manual/ Idle</a:t>
            </a:r>
            <a:endParaRPr sz="1200">
              <a:solidFill>
                <a:schemeClr val="dk1"/>
              </a:solidFill>
              <a:latin typeface="Roboto"/>
              <a:ea typeface="Roboto"/>
              <a:cs typeface="Roboto"/>
              <a:sym typeface="Roboto"/>
            </a:endParaRPr>
          </a:p>
          <a:p>
            <a:pPr indent="0" lvl="0" marL="91440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Status of TUI: The TUI is completed and awaiting implementation on Voltron's computer. However, it still requires an option for remote operation via SSH connection while the kart is moving. Additionally, integration with Voltron is necessary to enable the TUI to determine the Kart's mode.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pic>
        <p:nvPicPr>
          <p:cNvPr id="412" name="Google Shape;412;p60"/>
          <p:cNvPicPr preferRelativeResize="0"/>
          <p:nvPr/>
        </p:nvPicPr>
        <p:blipFill>
          <a:blip r:embed="rId3">
            <a:alphaModFix/>
          </a:blip>
          <a:stretch>
            <a:fillRect/>
          </a:stretch>
        </p:blipFill>
        <p:spPr>
          <a:xfrm>
            <a:off x="3441875" y="1510625"/>
            <a:ext cx="5702127" cy="2970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822"/>
              <a:t>Future works &amp; possible optimizations</a:t>
            </a:r>
            <a:endParaRPr sz="4022"/>
          </a:p>
        </p:txBody>
      </p:sp>
      <p:sp>
        <p:nvSpPr>
          <p:cNvPr id="418" name="Google Shape;418;p61"/>
          <p:cNvSpPr txBox="1"/>
          <p:nvPr>
            <p:ph idx="1" type="body"/>
          </p:nvPr>
        </p:nvSpPr>
        <p:spPr>
          <a:xfrm>
            <a:off x="311700" y="1242475"/>
            <a:ext cx="8520600" cy="33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solidFill>
                  <a:schemeClr val="dk1"/>
                </a:solidFill>
              </a:rPr>
              <a:t>Battery container</a:t>
            </a:r>
            <a:r>
              <a:rPr lang="en" sz="1900">
                <a:solidFill>
                  <a:schemeClr val="dk1"/>
                </a:solidFill>
              </a:rPr>
              <a:t> for updated enclosure</a:t>
            </a:r>
            <a:br>
              <a:rPr lang="en">
                <a:solidFill>
                  <a:schemeClr val="dk1"/>
                </a:solidFill>
              </a:rPr>
            </a:br>
            <a:br>
              <a:rPr lang="en">
                <a:solidFill>
                  <a:schemeClr val="dk1"/>
                </a:solidFill>
              </a:rPr>
            </a:br>
            <a:r>
              <a:rPr lang="en">
                <a:solidFill>
                  <a:schemeClr val="dk1"/>
                </a:solidFill>
              </a:rPr>
              <a:t>Relocating batteries from outer section</a:t>
            </a:r>
            <a:br>
              <a:rPr lang="en">
                <a:solidFill>
                  <a:schemeClr val="dk1"/>
                </a:solidFill>
              </a:rPr>
            </a:br>
            <a:r>
              <a:rPr lang="en">
                <a:solidFill>
                  <a:schemeClr val="dk1"/>
                </a:solidFill>
              </a:rPr>
              <a:t>of chassis will help weight distribution</a:t>
            </a:r>
            <a:br>
              <a:rPr lang="en">
                <a:solidFill>
                  <a:schemeClr val="dk1"/>
                </a:solidFill>
              </a:rPr>
            </a:br>
            <a:r>
              <a:rPr lang="en">
                <a:solidFill>
                  <a:schemeClr val="dk1"/>
                </a:solidFill>
              </a:rPr>
              <a:t>and kart performance.</a:t>
            </a:r>
            <a:endParaRPr>
              <a:solidFill>
                <a:schemeClr val="dk1"/>
              </a:solidFill>
            </a:endParaRPr>
          </a:p>
          <a:p>
            <a:pPr indent="0" lvl="0" marL="457200" rtl="0" algn="l">
              <a:spcBef>
                <a:spcPts val="1200"/>
              </a:spcBef>
              <a:spcAft>
                <a:spcPts val="1200"/>
              </a:spcAft>
              <a:buNone/>
            </a:pPr>
            <a:r>
              <a:t/>
            </a:r>
            <a:endParaRPr/>
          </a:p>
        </p:txBody>
      </p:sp>
      <p:pic>
        <p:nvPicPr>
          <p:cNvPr id="419" name="Google Shape;419;p61"/>
          <p:cNvPicPr preferRelativeResize="0"/>
          <p:nvPr/>
        </p:nvPicPr>
        <p:blipFill>
          <a:blip r:embed="rId3">
            <a:alphaModFix/>
          </a:blip>
          <a:stretch>
            <a:fillRect/>
          </a:stretch>
        </p:blipFill>
        <p:spPr>
          <a:xfrm>
            <a:off x="4743126" y="1391675"/>
            <a:ext cx="3971049" cy="2815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works &amp; possible optimizations</a:t>
            </a:r>
            <a:endParaRPr/>
          </a:p>
        </p:txBody>
      </p:sp>
      <p:sp>
        <p:nvSpPr>
          <p:cNvPr id="425" name="Google Shape;425;p62"/>
          <p:cNvSpPr txBox="1"/>
          <p:nvPr>
            <p:ph idx="1" type="body"/>
          </p:nvPr>
        </p:nvSpPr>
        <p:spPr>
          <a:xfrm>
            <a:off x="202400" y="1152475"/>
            <a:ext cx="3695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Redesigned containment unit</a:t>
            </a:r>
            <a:br>
              <a:rPr lang="en">
                <a:solidFill>
                  <a:schemeClr val="dk1"/>
                </a:solidFill>
              </a:rPr>
            </a:br>
            <a:r>
              <a:rPr lang="en">
                <a:solidFill>
                  <a:schemeClr val="dk1"/>
                </a:solidFill>
              </a:rPr>
              <a:t>for Voltron electronic and </a:t>
            </a:r>
            <a:br>
              <a:rPr lang="en">
                <a:solidFill>
                  <a:schemeClr val="dk1"/>
                </a:solidFill>
              </a:rPr>
            </a:br>
            <a:r>
              <a:rPr lang="en">
                <a:solidFill>
                  <a:schemeClr val="dk1"/>
                </a:solidFill>
              </a:rPr>
              <a:t>power components.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Organization of components</a:t>
            </a:r>
            <a:br>
              <a:rPr lang="en">
                <a:solidFill>
                  <a:schemeClr val="dk1"/>
                </a:solidFill>
              </a:rPr>
            </a:br>
            <a:r>
              <a:rPr lang="en">
                <a:solidFill>
                  <a:schemeClr val="dk1"/>
                </a:solidFill>
              </a:rPr>
              <a:t>will facilitate testing operations</a:t>
            </a:r>
            <a:br>
              <a:rPr lang="en">
                <a:solidFill>
                  <a:schemeClr val="dk1"/>
                </a:solidFill>
              </a:rPr>
            </a:br>
            <a:r>
              <a:rPr lang="en">
                <a:solidFill>
                  <a:schemeClr val="dk1"/>
                </a:solidFill>
              </a:rPr>
              <a:t>a</a:t>
            </a:r>
            <a:r>
              <a:rPr lang="en">
                <a:solidFill>
                  <a:schemeClr val="dk1"/>
                </a:solidFill>
              </a:rPr>
              <a:t>nd improve </a:t>
            </a:r>
            <a:r>
              <a:rPr lang="en">
                <a:solidFill>
                  <a:schemeClr val="dk1"/>
                </a:solidFill>
              </a:rPr>
              <a:t>aesthetics</a:t>
            </a:r>
            <a:r>
              <a:rPr lang="en">
                <a:solidFill>
                  <a:schemeClr val="dk1"/>
                </a:solidFill>
              </a:rPr>
              <a:t>.</a:t>
            </a:r>
            <a:endParaRPr>
              <a:solidFill>
                <a:schemeClr val="dk1"/>
              </a:solidFill>
            </a:endParaRPr>
          </a:p>
        </p:txBody>
      </p:sp>
      <p:pic>
        <p:nvPicPr>
          <p:cNvPr id="426" name="Google Shape;426;p62"/>
          <p:cNvPicPr preferRelativeResize="0"/>
          <p:nvPr/>
        </p:nvPicPr>
        <p:blipFill>
          <a:blip r:embed="rId3">
            <a:alphaModFix/>
          </a:blip>
          <a:stretch>
            <a:fillRect/>
          </a:stretch>
        </p:blipFill>
        <p:spPr>
          <a:xfrm>
            <a:off x="4066114" y="1152475"/>
            <a:ext cx="4822887" cy="34164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